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8" r:id="rId7"/>
    <p:sldId id="262" r:id="rId8"/>
    <p:sldId id="263" r:id="rId9"/>
    <p:sldId id="269" r:id="rId10"/>
    <p:sldId id="265" r:id="rId11"/>
    <p:sldId id="266" r:id="rId12"/>
    <p:sldId id="267"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66465" autoAdjust="0"/>
  </p:normalViewPr>
  <p:slideViewPr>
    <p:cSldViewPr snapToGrid="0" snapToObjects="1">
      <p:cViewPr varScale="1">
        <p:scale>
          <a:sx n="107" d="100"/>
          <a:sy n="107" d="100"/>
        </p:scale>
        <p:origin x="63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0474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133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914400"/>
            <a:ext cx="10789920" cy="502920"/>
          </a:xfrm>
          <a:prstGeom prst="rect">
            <a:avLst/>
          </a:prstGeom>
          <a:noFill/>
        </p:spPr>
        <p:txBody>
          <a:bodyPr wrap="square" anchor="t">
            <a:spAutoFit/>
          </a:bodyPr>
          <a:lstStyle/>
          <a:p>
            <a:pPr algn="l">
              <a:defRPr sz="1300" b="1">
                <a:solidFill>
                  <a:srgbClr val="41B6E6"/>
                </a:solidFill>
                <a:latin typeface="Aptos"/>
              </a:defRPr>
            </a:pPr>
            <a:r>
              <a:t>PROJECT #1</a:t>
            </a:r>
          </a:p>
        </p:txBody>
      </p:sp>
      <p:sp>
        <p:nvSpPr>
          <p:cNvPr id="5" name="TextBox 4"/>
          <p:cNvSpPr txBox="1"/>
          <p:nvPr/>
        </p:nvSpPr>
        <p:spPr>
          <a:xfrm>
            <a:off x="658368" y="1417320"/>
            <a:ext cx="10789920" cy="1234440"/>
          </a:xfrm>
          <a:prstGeom prst="rect">
            <a:avLst/>
          </a:prstGeom>
          <a:noFill/>
        </p:spPr>
        <p:txBody>
          <a:bodyPr wrap="square" anchor="t">
            <a:spAutoFit/>
          </a:bodyPr>
          <a:lstStyle/>
          <a:p>
            <a:pPr algn="l">
              <a:defRPr sz="3400" b="1">
                <a:solidFill>
                  <a:srgbClr val="FFFFFF"/>
                </a:solidFill>
                <a:latin typeface="Aptos"/>
              </a:defRPr>
            </a:pPr>
            <a:r>
              <a:rPr dirty="0"/>
              <a:t>Sales Performance &amp;</a:t>
            </a:r>
            <a:br>
              <a:rPr dirty="0"/>
            </a:br>
            <a:r>
              <a:rPr dirty="0"/>
              <a:t>Forecasting Analysis</a:t>
            </a:r>
          </a:p>
        </p:txBody>
      </p:sp>
      <p:sp>
        <p:nvSpPr>
          <p:cNvPr id="6" name="TextBox 5"/>
          <p:cNvSpPr txBox="1"/>
          <p:nvPr/>
        </p:nvSpPr>
        <p:spPr>
          <a:xfrm>
            <a:off x="685800" y="2852928"/>
            <a:ext cx="10424160" cy="640080"/>
          </a:xfrm>
          <a:prstGeom prst="rect">
            <a:avLst/>
          </a:prstGeom>
          <a:noFill/>
        </p:spPr>
        <p:txBody>
          <a:bodyPr wrap="square" anchor="t">
            <a:spAutoFit/>
          </a:bodyPr>
          <a:lstStyle/>
          <a:p>
            <a:pPr algn="l">
              <a:defRPr sz="1600" b="0">
                <a:solidFill>
                  <a:srgbClr val="DAEBF5"/>
                </a:solidFill>
                <a:latin typeface="Aptos"/>
              </a:defRPr>
            </a:pPr>
            <a:r>
              <a:t>Business Performance • Profitability • Forecast Validation • Decision Support</a:t>
            </a:r>
          </a:p>
        </p:txBody>
      </p:sp>
      <p:sp>
        <p:nvSpPr>
          <p:cNvPr id="7" name="Rounded Rectangle 6"/>
          <p:cNvSpPr/>
          <p:nvPr/>
        </p:nvSpPr>
        <p:spPr>
          <a:xfrm>
            <a:off x="685800" y="3794760"/>
            <a:ext cx="1828800" cy="384048"/>
          </a:xfrm>
          <a:prstGeom prst="roundRect">
            <a:avLst/>
          </a:prstGeom>
          <a:solidFill>
            <a:srgbClr val="1E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3813048"/>
            <a:ext cx="1828800" cy="310896"/>
          </a:xfrm>
          <a:prstGeom prst="rect">
            <a:avLst/>
          </a:prstGeom>
          <a:noFill/>
        </p:spPr>
        <p:txBody>
          <a:bodyPr wrap="square" anchor="ctr">
            <a:spAutoFit/>
          </a:bodyPr>
          <a:lstStyle/>
          <a:p>
            <a:pPr algn="ctr">
              <a:defRPr sz="1100" b="1">
                <a:solidFill>
                  <a:srgbClr val="FFFFFF"/>
                </a:solidFill>
                <a:latin typeface="Aptos"/>
              </a:defRPr>
            </a:pPr>
            <a:r>
              <a:t>2019–2022 Actuals</a:t>
            </a:r>
          </a:p>
        </p:txBody>
      </p:sp>
      <p:sp>
        <p:nvSpPr>
          <p:cNvPr id="9" name="Rounded Rectangle 8"/>
          <p:cNvSpPr/>
          <p:nvPr/>
        </p:nvSpPr>
        <p:spPr>
          <a:xfrm>
            <a:off x="2697480" y="3794760"/>
            <a:ext cx="1691640" cy="384048"/>
          </a:xfrm>
          <a:prstGeom prst="round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97480" y="3813048"/>
            <a:ext cx="1691640" cy="310896"/>
          </a:xfrm>
          <a:prstGeom prst="rect">
            <a:avLst/>
          </a:prstGeom>
          <a:noFill/>
        </p:spPr>
        <p:txBody>
          <a:bodyPr wrap="square" anchor="ctr">
            <a:spAutoFit/>
          </a:bodyPr>
          <a:lstStyle/>
          <a:p>
            <a:pPr algn="ctr">
              <a:defRPr sz="1100" b="1">
                <a:solidFill>
                  <a:srgbClr val="FFFFFF"/>
                </a:solidFill>
                <a:latin typeface="Aptos"/>
              </a:defRPr>
            </a:pPr>
            <a:r>
              <a:t>2023 Forecast</a:t>
            </a:r>
          </a:p>
        </p:txBody>
      </p:sp>
      <p:sp>
        <p:nvSpPr>
          <p:cNvPr id="11" name="TextBox 10"/>
          <p:cNvSpPr txBox="1"/>
          <p:nvPr/>
        </p:nvSpPr>
        <p:spPr>
          <a:xfrm>
            <a:off x="685800" y="5715000"/>
            <a:ext cx="7132320" cy="411480"/>
          </a:xfrm>
          <a:prstGeom prst="rect">
            <a:avLst/>
          </a:prstGeom>
          <a:noFill/>
        </p:spPr>
        <p:txBody>
          <a:bodyPr wrap="square" anchor="t">
            <a:spAutoFit/>
          </a:bodyPr>
          <a:lstStyle/>
          <a:p>
            <a:pPr algn="l">
              <a:defRPr sz="1300" b="0">
                <a:solidFill>
                  <a:srgbClr val="FFFFFF"/>
                </a:solidFill>
                <a:latin typeface="Aptos"/>
              </a:defRPr>
            </a:pPr>
            <a:r>
              <a:t>Advanced Excel | Power Query | Pivot Analysis | FORECAST.ETS | MAPE</a:t>
            </a:r>
          </a:p>
        </p:txBody>
      </p:sp>
      <p:sp>
        <p:nvSpPr>
          <p:cNvPr id="12" name="TextBox 11"/>
          <p:cNvSpPr txBox="1"/>
          <p:nvPr/>
        </p:nvSpPr>
        <p:spPr>
          <a:xfrm>
            <a:off x="9144000" y="5715000"/>
            <a:ext cx="2286000" cy="411480"/>
          </a:xfrm>
          <a:prstGeom prst="rect">
            <a:avLst/>
          </a:prstGeom>
          <a:noFill/>
        </p:spPr>
        <p:txBody>
          <a:bodyPr wrap="square" anchor="t">
            <a:spAutoFit/>
          </a:bodyPr>
          <a:lstStyle/>
          <a:p>
            <a:pPr algn="r">
              <a:defRPr sz="1300" b="1">
                <a:solidFill>
                  <a:srgbClr val="FFFFFF"/>
                </a:solidFill>
                <a:latin typeface="Aptos"/>
              </a:defRPr>
            </a:pPr>
            <a:r>
              <a:t>Tina Vo</a:t>
            </a:r>
          </a:p>
        </p:txBody>
      </p:sp>
    </p:spTree>
  </p:cSld>
  <p:clrMapOvr>
    <a:masterClrMapping/>
  </p:clrMapOvr>
  <mc:AlternateContent xmlns:mc="http://schemas.openxmlformats.org/markup-compatibility/2006" xmlns:p14="http://schemas.microsoft.com/office/powerpoint/2010/main">
    <mc:Choice Requires="p14">
      <p:transition spd="slow" p14:dur="2000" advTm="48554"/>
    </mc:Choice>
    <mc:Fallback xmlns="">
      <p:transition spd="slow" advTm="4855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Agenda</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Management-focused analytical storyline</a:t>
            </a:r>
          </a:p>
        </p:txBody>
      </p:sp>
      <p:sp>
        <p:nvSpPr>
          <p:cNvPr id="5" name="TextBox 4"/>
          <p:cNvSpPr txBox="1"/>
          <p:nvPr/>
        </p:nvSpPr>
        <p:spPr>
          <a:xfrm>
            <a:off x="731520" y="1417320"/>
            <a:ext cx="594360" cy="384048"/>
          </a:xfrm>
          <a:prstGeom prst="rect">
            <a:avLst/>
          </a:prstGeom>
          <a:noFill/>
        </p:spPr>
        <p:txBody>
          <a:bodyPr wrap="square" anchor="t">
            <a:spAutoFit/>
          </a:bodyPr>
          <a:lstStyle/>
          <a:p>
            <a:pPr algn="l">
              <a:defRPr sz="1600" b="1">
                <a:solidFill>
                  <a:srgbClr val="41B6E6"/>
                </a:solidFill>
                <a:latin typeface="Aptos"/>
              </a:defRPr>
            </a:pPr>
            <a:r>
              <a:t>01</a:t>
            </a:r>
          </a:p>
        </p:txBody>
      </p:sp>
      <p:sp>
        <p:nvSpPr>
          <p:cNvPr id="6" name="TextBox 5"/>
          <p:cNvSpPr txBox="1"/>
          <p:nvPr/>
        </p:nvSpPr>
        <p:spPr>
          <a:xfrm>
            <a:off x="1417320" y="1417320"/>
            <a:ext cx="4617720" cy="502920"/>
          </a:xfrm>
          <a:prstGeom prst="rect">
            <a:avLst/>
          </a:prstGeom>
          <a:noFill/>
        </p:spPr>
        <p:txBody>
          <a:bodyPr wrap="square" anchor="t">
            <a:spAutoFit/>
          </a:bodyPr>
          <a:lstStyle/>
          <a:p>
            <a:pPr algn="l">
              <a:defRPr sz="1500" b="1">
                <a:solidFill>
                  <a:srgbClr val="2D343A"/>
                </a:solidFill>
                <a:latin typeface="Aptos"/>
              </a:defRPr>
            </a:pPr>
            <a:r>
              <a:t>Business Problem &amp; Management Questions</a:t>
            </a:r>
          </a:p>
        </p:txBody>
      </p:sp>
      <p:sp>
        <p:nvSpPr>
          <p:cNvPr id="7" name="Rectangle 6"/>
          <p:cNvSpPr/>
          <p:nvPr/>
        </p:nvSpPr>
        <p:spPr>
          <a:xfrm>
            <a:off x="1417320" y="2039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560320"/>
            <a:ext cx="594360" cy="384048"/>
          </a:xfrm>
          <a:prstGeom prst="rect">
            <a:avLst/>
          </a:prstGeom>
          <a:noFill/>
        </p:spPr>
        <p:txBody>
          <a:bodyPr wrap="square" anchor="t">
            <a:spAutoFit/>
          </a:bodyPr>
          <a:lstStyle/>
          <a:p>
            <a:pPr algn="l">
              <a:defRPr sz="1600" b="1">
                <a:solidFill>
                  <a:srgbClr val="41B6E6"/>
                </a:solidFill>
                <a:latin typeface="Aptos"/>
              </a:defRPr>
            </a:pPr>
            <a:r>
              <a:t>02</a:t>
            </a:r>
          </a:p>
        </p:txBody>
      </p:sp>
      <p:sp>
        <p:nvSpPr>
          <p:cNvPr id="9" name="TextBox 8"/>
          <p:cNvSpPr txBox="1"/>
          <p:nvPr/>
        </p:nvSpPr>
        <p:spPr>
          <a:xfrm>
            <a:off x="1417320" y="2560320"/>
            <a:ext cx="4617720" cy="502920"/>
          </a:xfrm>
          <a:prstGeom prst="rect">
            <a:avLst/>
          </a:prstGeom>
          <a:noFill/>
        </p:spPr>
        <p:txBody>
          <a:bodyPr wrap="square" anchor="t">
            <a:spAutoFit/>
          </a:bodyPr>
          <a:lstStyle/>
          <a:p>
            <a:pPr algn="l">
              <a:defRPr sz="1500" b="1">
                <a:solidFill>
                  <a:srgbClr val="2D343A"/>
                </a:solidFill>
                <a:latin typeface="Aptos"/>
              </a:defRPr>
            </a:pPr>
            <a:r>
              <a:t>Executive Performance Overview</a:t>
            </a:r>
          </a:p>
        </p:txBody>
      </p:sp>
      <p:sp>
        <p:nvSpPr>
          <p:cNvPr id="10" name="Rectangle 9"/>
          <p:cNvSpPr/>
          <p:nvPr/>
        </p:nvSpPr>
        <p:spPr>
          <a:xfrm>
            <a:off x="1417320" y="3182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703320"/>
            <a:ext cx="594360" cy="384048"/>
          </a:xfrm>
          <a:prstGeom prst="rect">
            <a:avLst/>
          </a:prstGeom>
          <a:noFill/>
        </p:spPr>
        <p:txBody>
          <a:bodyPr wrap="square" anchor="t">
            <a:spAutoFit/>
          </a:bodyPr>
          <a:lstStyle/>
          <a:p>
            <a:pPr algn="l">
              <a:defRPr sz="1600" b="1">
                <a:solidFill>
                  <a:srgbClr val="41B6E6"/>
                </a:solidFill>
                <a:latin typeface="Aptos"/>
              </a:defRPr>
            </a:pPr>
            <a:r>
              <a:t>03</a:t>
            </a:r>
          </a:p>
        </p:txBody>
      </p:sp>
      <p:sp>
        <p:nvSpPr>
          <p:cNvPr id="12" name="TextBox 11"/>
          <p:cNvSpPr txBox="1"/>
          <p:nvPr/>
        </p:nvSpPr>
        <p:spPr>
          <a:xfrm>
            <a:off x="1417320" y="3703320"/>
            <a:ext cx="4617720" cy="502920"/>
          </a:xfrm>
          <a:prstGeom prst="rect">
            <a:avLst/>
          </a:prstGeom>
          <a:noFill/>
        </p:spPr>
        <p:txBody>
          <a:bodyPr wrap="square" anchor="t">
            <a:spAutoFit/>
          </a:bodyPr>
          <a:lstStyle/>
          <a:p>
            <a:pPr algn="l">
              <a:defRPr sz="1500" b="1">
                <a:solidFill>
                  <a:srgbClr val="2D343A"/>
                </a:solidFill>
                <a:latin typeface="Aptos"/>
              </a:defRPr>
            </a:pPr>
            <a:r>
              <a:t>6P Business Diagnostic</a:t>
            </a:r>
          </a:p>
        </p:txBody>
      </p:sp>
      <p:sp>
        <p:nvSpPr>
          <p:cNvPr id="13" name="Rectangle 12"/>
          <p:cNvSpPr/>
          <p:nvPr/>
        </p:nvSpPr>
        <p:spPr>
          <a:xfrm>
            <a:off x="1417320" y="4325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46320"/>
            <a:ext cx="594360" cy="384048"/>
          </a:xfrm>
          <a:prstGeom prst="rect">
            <a:avLst/>
          </a:prstGeom>
          <a:noFill/>
        </p:spPr>
        <p:txBody>
          <a:bodyPr wrap="square" anchor="t">
            <a:spAutoFit/>
          </a:bodyPr>
          <a:lstStyle/>
          <a:p>
            <a:pPr algn="l">
              <a:defRPr sz="1600" b="1">
                <a:solidFill>
                  <a:srgbClr val="41B6E6"/>
                </a:solidFill>
                <a:latin typeface="Aptos"/>
              </a:defRPr>
            </a:pPr>
            <a:r>
              <a:t>04</a:t>
            </a:r>
          </a:p>
        </p:txBody>
      </p:sp>
      <p:sp>
        <p:nvSpPr>
          <p:cNvPr id="15" name="TextBox 14"/>
          <p:cNvSpPr txBox="1"/>
          <p:nvPr/>
        </p:nvSpPr>
        <p:spPr>
          <a:xfrm>
            <a:off x="1417320" y="4846320"/>
            <a:ext cx="4617720" cy="502920"/>
          </a:xfrm>
          <a:prstGeom prst="rect">
            <a:avLst/>
          </a:prstGeom>
          <a:noFill/>
        </p:spPr>
        <p:txBody>
          <a:bodyPr wrap="square" anchor="t">
            <a:spAutoFit/>
          </a:bodyPr>
          <a:lstStyle/>
          <a:p>
            <a:pPr algn="l">
              <a:defRPr sz="1500" b="1">
                <a:solidFill>
                  <a:srgbClr val="2D343A"/>
                </a:solidFill>
                <a:latin typeface="Aptos"/>
              </a:defRPr>
            </a:pPr>
            <a:r>
              <a:t>Customer, Product, Regional &amp; Shipping Performance</a:t>
            </a:r>
          </a:p>
        </p:txBody>
      </p:sp>
      <p:sp>
        <p:nvSpPr>
          <p:cNvPr id="16" name="Rectangle 15"/>
          <p:cNvSpPr/>
          <p:nvPr/>
        </p:nvSpPr>
        <p:spPr>
          <a:xfrm>
            <a:off x="1417320" y="5468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1417320"/>
            <a:ext cx="594360" cy="384048"/>
          </a:xfrm>
          <a:prstGeom prst="rect">
            <a:avLst/>
          </a:prstGeom>
          <a:noFill/>
        </p:spPr>
        <p:txBody>
          <a:bodyPr wrap="square" anchor="t">
            <a:spAutoFit/>
          </a:bodyPr>
          <a:lstStyle/>
          <a:p>
            <a:pPr algn="l">
              <a:defRPr sz="1600" b="1">
                <a:solidFill>
                  <a:srgbClr val="41B6E6"/>
                </a:solidFill>
                <a:latin typeface="Aptos"/>
              </a:defRPr>
            </a:pPr>
            <a:r>
              <a:t>05</a:t>
            </a:r>
          </a:p>
        </p:txBody>
      </p:sp>
      <p:sp>
        <p:nvSpPr>
          <p:cNvPr id="18" name="TextBox 17"/>
          <p:cNvSpPr txBox="1"/>
          <p:nvPr/>
        </p:nvSpPr>
        <p:spPr>
          <a:xfrm>
            <a:off x="6995159" y="1417320"/>
            <a:ext cx="4617720" cy="502920"/>
          </a:xfrm>
          <a:prstGeom prst="rect">
            <a:avLst/>
          </a:prstGeom>
          <a:noFill/>
        </p:spPr>
        <p:txBody>
          <a:bodyPr wrap="square" anchor="t">
            <a:spAutoFit/>
          </a:bodyPr>
          <a:lstStyle/>
          <a:p>
            <a:pPr algn="l">
              <a:defRPr sz="1500" b="1">
                <a:solidFill>
                  <a:srgbClr val="2D343A"/>
                </a:solidFill>
                <a:latin typeface="Aptos"/>
              </a:defRPr>
            </a:pPr>
            <a:r>
              <a:t>Business Risks, Root-Cause Hypotheses &amp; Diagnostics</a:t>
            </a:r>
          </a:p>
        </p:txBody>
      </p:sp>
      <p:sp>
        <p:nvSpPr>
          <p:cNvPr id="19" name="Rectangle 18"/>
          <p:cNvSpPr/>
          <p:nvPr/>
        </p:nvSpPr>
        <p:spPr>
          <a:xfrm>
            <a:off x="6995159" y="2039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59" y="2560320"/>
            <a:ext cx="594360" cy="384048"/>
          </a:xfrm>
          <a:prstGeom prst="rect">
            <a:avLst/>
          </a:prstGeom>
          <a:noFill/>
        </p:spPr>
        <p:txBody>
          <a:bodyPr wrap="square" anchor="t">
            <a:spAutoFit/>
          </a:bodyPr>
          <a:lstStyle/>
          <a:p>
            <a:pPr algn="l">
              <a:defRPr sz="1600" b="1">
                <a:solidFill>
                  <a:srgbClr val="41B6E6"/>
                </a:solidFill>
                <a:latin typeface="Aptos"/>
              </a:defRPr>
            </a:pPr>
            <a:r>
              <a:t>06</a:t>
            </a:r>
          </a:p>
        </p:txBody>
      </p:sp>
      <p:sp>
        <p:nvSpPr>
          <p:cNvPr id="21" name="TextBox 20"/>
          <p:cNvSpPr txBox="1"/>
          <p:nvPr/>
        </p:nvSpPr>
        <p:spPr>
          <a:xfrm>
            <a:off x="6995159" y="2560320"/>
            <a:ext cx="4617720" cy="502920"/>
          </a:xfrm>
          <a:prstGeom prst="rect">
            <a:avLst/>
          </a:prstGeom>
          <a:noFill/>
        </p:spPr>
        <p:txBody>
          <a:bodyPr wrap="square" anchor="t">
            <a:spAutoFit/>
          </a:bodyPr>
          <a:lstStyle/>
          <a:p>
            <a:pPr algn="l">
              <a:defRPr sz="1500" b="1">
                <a:solidFill>
                  <a:srgbClr val="2D343A"/>
                </a:solidFill>
                <a:latin typeface="Aptos"/>
              </a:defRPr>
            </a:pPr>
            <a:r>
              <a:t>Forecasting Analysis &amp; Validation</a:t>
            </a:r>
          </a:p>
        </p:txBody>
      </p:sp>
      <p:sp>
        <p:nvSpPr>
          <p:cNvPr id="22" name="Rectangle 21"/>
          <p:cNvSpPr/>
          <p:nvPr/>
        </p:nvSpPr>
        <p:spPr>
          <a:xfrm>
            <a:off x="6995159" y="3182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59" y="3703320"/>
            <a:ext cx="594360" cy="384048"/>
          </a:xfrm>
          <a:prstGeom prst="rect">
            <a:avLst/>
          </a:prstGeom>
          <a:noFill/>
        </p:spPr>
        <p:txBody>
          <a:bodyPr wrap="square" anchor="t">
            <a:spAutoFit/>
          </a:bodyPr>
          <a:lstStyle/>
          <a:p>
            <a:pPr algn="l">
              <a:defRPr sz="1600" b="1">
                <a:solidFill>
                  <a:srgbClr val="41B6E6"/>
                </a:solidFill>
                <a:latin typeface="Aptos"/>
              </a:defRPr>
            </a:pPr>
            <a:r>
              <a:t>07</a:t>
            </a:r>
          </a:p>
        </p:txBody>
      </p:sp>
      <p:sp>
        <p:nvSpPr>
          <p:cNvPr id="24" name="TextBox 23"/>
          <p:cNvSpPr txBox="1"/>
          <p:nvPr/>
        </p:nvSpPr>
        <p:spPr>
          <a:xfrm>
            <a:off x="6995159" y="3703320"/>
            <a:ext cx="4617720" cy="502920"/>
          </a:xfrm>
          <a:prstGeom prst="rect">
            <a:avLst/>
          </a:prstGeom>
          <a:noFill/>
        </p:spPr>
        <p:txBody>
          <a:bodyPr wrap="square" anchor="t">
            <a:spAutoFit/>
          </a:bodyPr>
          <a:lstStyle/>
          <a:p>
            <a:pPr algn="l">
              <a:defRPr sz="1500" b="1">
                <a:solidFill>
                  <a:srgbClr val="2D343A"/>
                </a:solidFill>
                <a:latin typeface="Aptos"/>
              </a:defRPr>
            </a:pPr>
            <a:r>
              <a:t>SWOT Analysis</a:t>
            </a:r>
          </a:p>
        </p:txBody>
      </p:sp>
      <p:sp>
        <p:nvSpPr>
          <p:cNvPr id="25" name="Rectangle 24"/>
          <p:cNvSpPr/>
          <p:nvPr/>
        </p:nvSpPr>
        <p:spPr>
          <a:xfrm>
            <a:off x="6995159" y="4325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59" y="4846320"/>
            <a:ext cx="594360" cy="384048"/>
          </a:xfrm>
          <a:prstGeom prst="rect">
            <a:avLst/>
          </a:prstGeom>
          <a:noFill/>
        </p:spPr>
        <p:txBody>
          <a:bodyPr wrap="square" anchor="t">
            <a:spAutoFit/>
          </a:bodyPr>
          <a:lstStyle/>
          <a:p>
            <a:pPr algn="l">
              <a:defRPr sz="1600" b="1">
                <a:solidFill>
                  <a:srgbClr val="41B6E6"/>
                </a:solidFill>
                <a:latin typeface="Aptos"/>
              </a:defRPr>
            </a:pPr>
            <a:r>
              <a:t>08</a:t>
            </a:r>
          </a:p>
        </p:txBody>
      </p:sp>
      <p:sp>
        <p:nvSpPr>
          <p:cNvPr id="27" name="TextBox 26"/>
          <p:cNvSpPr txBox="1"/>
          <p:nvPr/>
        </p:nvSpPr>
        <p:spPr>
          <a:xfrm>
            <a:off x="6995159" y="4846320"/>
            <a:ext cx="4617720" cy="502920"/>
          </a:xfrm>
          <a:prstGeom prst="rect">
            <a:avLst/>
          </a:prstGeom>
          <a:noFill/>
        </p:spPr>
        <p:txBody>
          <a:bodyPr wrap="square" anchor="t">
            <a:spAutoFit/>
          </a:bodyPr>
          <a:lstStyle/>
          <a:p>
            <a:pPr algn="l">
              <a:defRPr sz="1500" b="1">
                <a:solidFill>
                  <a:srgbClr val="2D343A"/>
                </a:solidFill>
                <a:latin typeface="Aptos"/>
              </a:defRPr>
            </a:pPr>
            <a:r>
              <a:t>Recommendations, Corrective Actions &amp; Decision Support</a:t>
            </a:r>
          </a:p>
        </p:txBody>
      </p:sp>
      <p:sp>
        <p:nvSpPr>
          <p:cNvPr id="28" name="Rectangle 27"/>
          <p:cNvSpPr/>
          <p:nvPr/>
        </p:nvSpPr>
        <p:spPr>
          <a:xfrm>
            <a:off x="6995159" y="5468112"/>
            <a:ext cx="4526280" cy="13716"/>
          </a:xfrm>
          <a:prstGeom prst="rect">
            <a:avLst/>
          </a:prstGeom>
          <a:solidFill>
            <a:srgbClr val="E1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02</a:t>
            </a:r>
          </a:p>
        </p:txBody>
      </p:sp>
    </p:spTree>
  </p:cSld>
  <p:clrMapOvr>
    <a:masterClrMapping/>
  </p:clrMapOvr>
  <mc:AlternateContent xmlns:mc="http://schemas.openxmlformats.org/markup-compatibility/2006" xmlns:p14="http://schemas.microsoft.com/office/powerpoint/2010/main">
    <mc:Choice Requires="p14">
      <p:transition spd="slow" p14:dur="2000" advTm="56670"/>
    </mc:Choice>
    <mc:Fallback xmlns="">
      <p:transition spd="slow" advTm="5667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Business Problem &amp; Management Questions</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Move beyond reporting totals to explain performance, risk and decision implications.</a:t>
            </a:r>
          </a:p>
        </p:txBody>
      </p:sp>
      <p:sp>
        <p:nvSpPr>
          <p:cNvPr id="5" name="Rounded Rectangle 4"/>
          <p:cNvSpPr/>
          <p:nvPr/>
        </p:nvSpPr>
        <p:spPr>
          <a:xfrm>
            <a:off x="640080" y="1325880"/>
            <a:ext cx="3657600" cy="443484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325880"/>
            <a:ext cx="73152" cy="4434840"/>
          </a:xfrm>
          <a:prstGeom prst="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490472"/>
            <a:ext cx="3291840" cy="274320"/>
          </a:xfrm>
          <a:prstGeom prst="rect">
            <a:avLst/>
          </a:prstGeom>
          <a:noFill/>
        </p:spPr>
        <p:txBody>
          <a:bodyPr wrap="square" anchor="t">
            <a:spAutoFit/>
          </a:bodyPr>
          <a:lstStyle/>
          <a:p>
            <a:pPr algn="l">
              <a:defRPr sz="1100" b="1">
                <a:solidFill>
                  <a:srgbClr val="5C646C"/>
                </a:solidFill>
                <a:latin typeface="Aptos"/>
              </a:defRPr>
            </a:pPr>
            <a:r>
              <a:t>BUSINESS PROBLEM</a:t>
            </a:r>
          </a:p>
        </p:txBody>
      </p:sp>
      <p:sp>
        <p:nvSpPr>
          <p:cNvPr id="8" name="TextBox 7"/>
          <p:cNvSpPr txBox="1"/>
          <p:nvPr/>
        </p:nvSpPr>
        <p:spPr>
          <a:xfrm>
            <a:off x="841247" y="1828800"/>
            <a:ext cx="3291840" cy="3749039"/>
          </a:xfrm>
          <a:prstGeom prst="rect">
            <a:avLst/>
          </a:prstGeom>
          <a:noFill/>
        </p:spPr>
        <p:txBody>
          <a:bodyPr wrap="square" anchor="t">
            <a:spAutoFit/>
          </a:bodyPr>
          <a:lstStyle/>
          <a:p>
            <a:pPr algn="l">
              <a:defRPr sz="1150" b="0">
                <a:solidFill>
                  <a:srgbClr val="2D343A"/>
                </a:solidFill>
                <a:latin typeface="Aptos"/>
              </a:defRPr>
            </a:pPr>
            <a:r>
              <a:rPr dirty="0"/>
              <a:t>Aggregate revenue and profit do not show where growth is coming from, where profitability is being lost, whether fulfillment performance is consistent, or how much confidence management should place in the 2023 forecast.</a:t>
            </a:r>
          </a:p>
        </p:txBody>
      </p:sp>
      <p:sp>
        <p:nvSpPr>
          <p:cNvPr id="9" name="TextBox 8"/>
          <p:cNvSpPr txBox="1"/>
          <p:nvPr/>
        </p:nvSpPr>
        <p:spPr>
          <a:xfrm>
            <a:off x="4617720" y="1353312"/>
            <a:ext cx="6217920" cy="320040"/>
          </a:xfrm>
          <a:prstGeom prst="rect">
            <a:avLst/>
          </a:prstGeom>
          <a:noFill/>
        </p:spPr>
        <p:txBody>
          <a:bodyPr wrap="square" anchor="t">
            <a:spAutoFit/>
          </a:bodyPr>
          <a:lstStyle/>
          <a:p>
            <a:pPr algn="l">
              <a:defRPr sz="1200" b="1">
                <a:solidFill>
                  <a:srgbClr val="256699"/>
                </a:solidFill>
                <a:latin typeface="Aptos"/>
              </a:defRPr>
            </a:pPr>
            <a:r>
              <a:t>MANAGEMENT QUESTIONS</a:t>
            </a:r>
          </a:p>
        </p:txBody>
      </p:sp>
      <p:sp>
        <p:nvSpPr>
          <p:cNvPr id="10" name="Oval 9"/>
          <p:cNvSpPr/>
          <p:nvPr/>
        </p:nvSpPr>
        <p:spPr>
          <a:xfrm>
            <a:off x="4617720" y="1783080"/>
            <a:ext cx="384048" cy="384048"/>
          </a:xfrm>
          <a:prstGeom prst="ellipse">
            <a:avLst/>
          </a:prstGeom>
          <a:solidFill>
            <a:srgbClr val="E6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792224"/>
            <a:ext cx="384048" cy="320040"/>
          </a:xfrm>
          <a:prstGeom prst="rect">
            <a:avLst/>
          </a:prstGeom>
          <a:noFill/>
        </p:spPr>
        <p:txBody>
          <a:bodyPr wrap="square" anchor="ctr">
            <a:spAutoFit/>
          </a:bodyPr>
          <a:lstStyle/>
          <a:p>
            <a:pPr algn="ctr">
              <a:defRPr sz="1100" b="1">
                <a:solidFill>
                  <a:srgbClr val="256699"/>
                </a:solidFill>
                <a:latin typeface="Aptos"/>
              </a:defRPr>
            </a:pPr>
            <a:r>
              <a:t>1</a:t>
            </a:r>
          </a:p>
        </p:txBody>
      </p:sp>
      <p:sp>
        <p:nvSpPr>
          <p:cNvPr id="12" name="TextBox 11"/>
          <p:cNvSpPr txBox="1"/>
          <p:nvPr/>
        </p:nvSpPr>
        <p:spPr>
          <a:xfrm>
            <a:off x="5138928" y="1764792"/>
            <a:ext cx="5760720" cy="457200"/>
          </a:xfrm>
          <a:prstGeom prst="rect">
            <a:avLst/>
          </a:prstGeom>
          <a:noFill/>
        </p:spPr>
        <p:txBody>
          <a:bodyPr wrap="square" anchor="t">
            <a:spAutoFit/>
          </a:bodyPr>
          <a:lstStyle/>
          <a:p>
            <a:pPr algn="l">
              <a:defRPr sz="1400" b="0">
                <a:solidFill>
                  <a:srgbClr val="2D343A"/>
                </a:solidFill>
                <a:latin typeface="Aptos"/>
              </a:defRPr>
            </a:pPr>
            <a:r>
              <a:t>Where are revenue and profit actually generated?</a:t>
            </a:r>
          </a:p>
        </p:txBody>
      </p:sp>
      <p:sp>
        <p:nvSpPr>
          <p:cNvPr id="13" name="Oval 12"/>
          <p:cNvSpPr/>
          <p:nvPr/>
        </p:nvSpPr>
        <p:spPr>
          <a:xfrm>
            <a:off x="4617720" y="2560320"/>
            <a:ext cx="384048" cy="384048"/>
          </a:xfrm>
          <a:prstGeom prst="ellipse">
            <a:avLst/>
          </a:prstGeom>
          <a:solidFill>
            <a:srgbClr val="E6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2569463"/>
            <a:ext cx="384048" cy="320040"/>
          </a:xfrm>
          <a:prstGeom prst="rect">
            <a:avLst/>
          </a:prstGeom>
          <a:noFill/>
        </p:spPr>
        <p:txBody>
          <a:bodyPr wrap="square" anchor="ctr">
            <a:spAutoFit/>
          </a:bodyPr>
          <a:lstStyle/>
          <a:p>
            <a:pPr algn="ctr">
              <a:defRPr sz="1100" b="1">
                <a:solidFill>
                  <a:srgbClr val="256699"/>
                </a:solidFill>
                <a:latin typeface="Aptos"/>
              </a:defRPr>
            </a:pPr>
            <a:r>
              <a:t>2</a:t>
            </a:r>
          </a:p>
        </p:txBody>
      </p:sp>
      <p:sp>
        <p:nvSpPr>
          <p:cNvPr id="15" name="TextBox 14"/>
          <p:cNvSpPr txBox="1"/>
          <p:nvPr/>
        </p:nvSpPr>
        <p:spPr>
          <a:xfrm>
            <a:off x="5138928" y="2542032"/>
            <a:ext cx="5760720" cy="457200"/>
          </a:xfrm>
          <a:prstGeom prst="rect">
            <a:avLst/>
          </a:prstGeom>
          <a:noFill/>
        </p:spPr>
        <p:txBody>
          <a:bodyPr wrap="square" anchor="t">
            <a:spAutoFit/>
          </a:bodyPr>
          <a:lstStyle/>
          <a:p>
            <a:pPr algn="l">
              <a:defRPr sz="1400" b="0">
                <a:solidFill>
                  <a:srgbClr val="2D343A"/>
                </a:solidFill>
                <a:latin typeface="Aptos"/>
              </a:defRPr>
            </a:pPr>
            <a:r>
              <a:t>Which products, customers and regions require management attention?</a:t>
            </a:r>
          </a:p>
        </p:txBody>
      </p:sp>
      <p:sp>
        <p:nvSpPr>
          <p:cNvPr id="16" name="Oval 15"/>
          <p:cNvSpPr/>
          <p:nvPr/>
        </p:nvSpPr>
        <p:spPr>
          <a:xfrm>
            <a:off x="4617720" y="3337560"/>
            <a:ext cx="384048" cy="384048"/>
          </a:xfrm>
          <a:prstGeom prst="ellipse">
            <a:avLst/>
          </a:prstGeom>
          <a:solidFill>
            <a:srgbClr val="E6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7720" y="3346703"/>
            <a:ext cx="384048" cy="320040"/>
          </a:xfrm>
          <a:prstGeom prst="rect">
            <a:avLst/>
          </a:prstGeom>
          <a:noFill/>
        </p:spPr>
        <p:txBody>
          <a:bodyPr wrap="square" anchor="ctr">
            <a:spAutoFit/>
          </a:bodyPr>
          <a:lstStyle/>
          <a:p>
            <a:pPr algn="ctr">
              <a:defRPr sz="1100" b="1">
                <a:solidFill>
                  <a:srgbClr val="256699"/>
                </a:solidFill>
                <a:latin typeface="Aptos"/>
              </a:defRPr>
            </a:pPr>
            <a:r>
              <a:t>3</a:t>
            </a:r>
          </a:p>
        </p:txBody>
      </p:sp>
      <p:sp>
        <p:nvSpPr>
          <p:cNvPr id="18" name="TextBox 17"/>
          <p:cNvSpPr txBox="1"/>
          <p:nvPr/>
        </p:nvSpPr>
        <p:spPr>
          <a:xfrm>
            <a:off x="5138928" y="3319272"/>
            <a:ext cx="5760720" cy="457200"/>
          </a:xfrm>
          <a:prstGeom prst="rect">
            <a:avLst/>
          </a:prstGeom>
          <a:noFill/>
        </p:spPr>
        <p:txBody>
          <a:bodyPr wrap="square" anchor="t">
            <a:spAutoFit/>
          </a:bodyPr>
          <a:lstStyle/>
          <a:p>
            <a:pPr algn="l">
              <a:defRPr sz="1400" b="0">
                <a:solidFill>
                  <a:srgbClr val="2D343A"/>
                </a:solidFill>
                <a:latin typeface="Aptos"/>
              </a:defRPr>
            </a:pPr>
            <a:r>
              <a:t>Where does strong revenue fail to translate into strong profitability?</a:t>
            </a:r>
          </a:p>
        </p:txBody>
      </p:sp>
      <p:sp>
        <p:nvSpPr>
          <p:cNvPr id="19" name="Oval 18"/>
          <p:cNvSpPr/>
          <p:nvPr/>
        </p:nvSpPr>
        <p:spPr>
          <a:xfrm>
            <a:off x="4617720" y="4114800"/>
            <a:ext cx="384048" cy="384048"/>
          </a:xfrm>
          <a:prstGeom prst="ellipse">
            <a:avLst/>
          </a:prstGeom>
          <a:solidFill>
            <a:srgbClr val="E6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17720" y="4123944"/>
            <a:ext cx="384048" cy="320040"/>
          </a:xfrm>
          <a:prstGeom prst="rect">
            <a:avLst/>
          </a:prstGeom>
          <a:noFill/>
        </p:spPr>
        <p:txBody>
          <a:bodyPr wrap="square" anchor="ctr">
            <a:spAutoFit/>
          </a:bodyPr>
          <a:lstStyle/>
          <a:p>
            <a:pPr algn="ctr">
              <a:defRPr sz="1100" b="1">
                <a:solidFill>
                  <a:srgbClr val="256699"/>
                </a:solidFill>
                <a:latin typeface="Aptos"/>
              </a:defRPr>
            </a:pPr>
            <a:r>
              <a:t>4</a:t>
            </a:r>
          </a:p>
        </p:txBody>
      </p:sp>
      <p:sp>
        <p:nvSpPr>
          <p:cNvPr id="21" name="TextBox 20"/>
          <p:cNvSpPr txBox="1"/>
          <p:nvPr/>
        </p:nvSpPr>
        <p:spPr>
          <a:xfrm>
            <a:off x="5138928" y="4096512"/>
            <a:ext cx="5760720" cy="457200"/>
          </a:xfrm>
          <a:prstGeom prst="rect">
            <a:avLst/>
          </a:prstGeom>
          <a:noFill/>
        </p:spPr>
        <p:txBody>
          <a:bodyPr wrap="square" anchor="t">
            <a:spAutoFit/>
          </a:bodyPr>
          <a:lstStyle/>
          <a:p>
            <a:pPr algn="l">
              <a:defRPr sz="1400" b="0">
                <a:solidFill>
                  <a:srgbClr val="2D343A"/>
                </a:solidFill>
                <a:latin typeface="Aptos"/>
              </a:defRPr>
            </a:pPr>
            <a:r>
              <a:t>Are shipping differences operationally meaningful?</a:t>
            </a:r>
          </a:p>
        </p:txBody>
      </p:sp>
      <p:sp>
        <p:nvSpPr>
          <p:cNvPr id="22" name="Oval 21"/>
          <p:cNvSpPr/>
          <p:nvPr/>
        </p:nvSpPr>
        <p:spPr>
          <a:xfrm>
            <a:off x="4617720" y="4892040"/>
            <a:ext cx="384048" cy="384048"/>
          </a:xfrm>
          <a:prstGeom prst="ellipse">
            <a:avLst/>
          </a:prstGeom>
          <a:solidFill>
            <a:srgbClr val="E6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17720" y="4901183"/>
            <a:ext cx="384048" cy="320040"/>
          </a:xfrm>
          <a:prstGeom prst="rect">
            <a:avLst/>
          </a:prstGeom>
          <a:noFill/>
        </p:spPr>
        <p:txBody>
          <a:bodyPr wrap="square" anchor="ctr">
            <a:spAutoFit/>
          </a:bodyPr>
          <a:lstStyle/>
          <a:p>
            <a:pPr algn="ctr">
              <a:defRPr sz="1100" b="1">
                <a:solidFill>
                  <a:srgbClr val="256699"/>
                </a:solidFill>
                <a:latin typeface="Aptos"/>
              </a:defRPr>
            </a:pPr>
            <a:r>
              <a:t>5</a:t>
            </a:r>
          </a:p>
        </p:txBody>
      </p:sp>
      <p:sp>
        <p:nvSpPr>
          <p:cNvPr id="24" name="TextBox 23"/>
          <p:cNvSpPr txBox="1"/>
          <p:nvPr/>
        </p:nvSpPr>
        <p:spPr>
          <a:xfrm>
            <a:off x="5138928" y="4873752"/>
            <a:ext cx="5760720" cy="457200"/>
          </a:xfrm>
          <a:prstGeom prst="rect">
            <a:avLst/>
          </a:prstGeom>
          <a:noFill/>
        </p:spPr>
        <p:txBody>
          <a:bodyPr wrap="square" anchor="t">
            <a:spAutoFit/>
          </a:bodyPr>
          <a:lstStyle/>
          <a:p>
            <a:pPr algn="l">
              <a:defRPr sz="1400" b="0">
                <a:solidFill>
                  <a:srgbClr val="2D343A"/>
                </a:solidFill>
                <a:latin typeface="Aptos"/>
              </a:defRPr>
            </a:pPr>
            <a:r>
              <a:t>How reliable is the forecast for planning and resource decisions?</a:t>
            </a:r>
          </a:p>
        </p:txBody>
      </p:sp>
      <p:sp>
        <p:nvSpPr>
          <p:cNvPr id="25" name="TextBox 24"/>
          <p:cNvSpPr txBox="1"/>
          <p:nvPr/>
        </p:nvSpPr>
        <p:spPr>
          <a:xfrm>
            <a:off x="4617720" y="5897880"/>
            <a:ext cx="6583680" cy="365760"/>
          </a:xfrm>
          <a:prstGeom prst="rect">
            <a:avLst/>
          </a:prstGeom>
          <a:noFill/>
        </p:spPr>
        <p:txBody>
          <a:bodyPr wrap="square" anchor="t">
            <a:spAutoFit/>
          </a:bodyPr>
          <a:lstStyle/>
          <a:p>
            <a:pPr algn="l">
              <a:defRPr sz="1300" b="1">
                <a:solidFill>
                  <a:srgbClr val="1E708C"/>
                </a:solidFill>
                <a:latin typeface="Aptos"/>
              </a:defRPr>
            </a:pPr>
            <a:r>
              <a:t>Objective: convert historical performance into evidence for action, not just charts.</a:t>
            </a:r>
          </a:p>
        </p:txBody>
      </p:sp>
      <p:sp>
        <p:nvSpPr>
          <p:cNvPr id="26" name="Rectangle 25"/>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03</a:t>
            </a:r>
          </a:p>
        </p:txBody>
      </p:sp>
    </p:spTree>
  </p:cSld>
  <p:clrMapOvr>
    <a:masterClrMapping/>
  </p:clrMapOvr>
  <mc:AlternateContent xmlns:mc="http://schemas.openxmlformats.org/markup-compatibility/2006" xmlns:p14="http://schemas.microsoft.com/office/powerpoint/2010/main">
    <mc:Choice Requires="p14">
      <p:transition spd="slow" p14:dur="2000" advTm="57957"/>
    </mc:Choice>
    <mc:Fallback xmlns="">
      <p:transition spd="slow" advTm="5795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Executive Performance Overview</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Historical performance baseline | 2019–2022</a:t>
            </a:r>
          </a:p>
        </p:txBody>
      </p:sp>
      <p:sp>
        <p:nvSpPr>
          <p:cNvPr id="5" name="Rounded Rectangle 4"/>
          <p:cNvSpPr/>
          <p:nvPr/>
        </p:nvSpPr>
        <p:spPr>
          <a:xfrm>
            <a:off x="502920" y="1234440"/>
            <a:ext cx="2084831" cy="123444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34440"/>
            <a:ext cx="73152" cy="1234440"/>
          </a:xfrm>
          <a:prstGeom prst="rect">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399032"/>
            <a:ext cx="1719072" cy="274320"/>
          </a:xfrm>
          <a:prstGeom prst="rect">
            <a:avLst/>
          </a:prstGeom>
          <a:noFill/>
        </p:spPr>
        <p:txBody>
          <a:bodyPr wrap="square" anchor="t">
            <a:spAutoFit/>
          </a:bodyPr>
          <a:lstStyle/>
          <a:p>
            <a:pPr algn="l">
              <a:defRPr sz="1100" b="1">
                <a:solidFill>
                  <a:srgbClr val="5C646C"/>
                </a:solidFill>
                <a:latin typeface="Aptos"/>
              </a:defRPr>
            </a:pPr>
            <a:r>
              <a:t>Revenue</a:t>
            </a:r>
          </a:p>
        </p:txBody>
      </p:sp>
      <p:sp>
        <p:nvSpPr>
          <p:cNvPr id="8" name="TextBox 7"/>
          <p:cNvSpPr txBox="1"/>
          <p:nvPr/>
        </p:nvSpPr>
        <p:spPr>
          <a:xfrm>
            <a:off x="704088" y="1709928"/>
            <a:ext cx="1719072" cy="502920"/>
          </a:xfrm>
          <a:prstGeom prst="rect">
            <a:avLst/>
          </a:prstGeom>
          <a:noFill/>
        </p:spPr>
        <p:txBody>
          <a:bodyPr wrap="square" anchor="t">
            <a:spAutoFit/>
          </a:bodyPr>
          <a:lstStyle/>
          <a:p>
            <a:pPr algn="l">
              <a:defRPr sz="2400" b="1">
                <a:solidFill>
                  <a:srgbClr val="41B6E6"/>
                </a:solidFill>
                <a:latin typeface="Aptos"/>
              </a:defRPr>
            </a:pPr>
            <a:r>
              <a:t>$2.30M</a:t>
            </a:r>
          </a:p>
        </p:txBody>
      </p:sp>
      <p:sp>
        <p:nvSpPr>
          <p:cNvPr id="9" name="Rounded Rectangle 8"/>
          <p:cNvSpPr/>
          <p:nvPr/>
        </p:nvSpPr>
        <p:spPr>
          <a:xfrm>
            <a:off x="2807208" y="1234440"/>
            <a:ext cx="2084831" cy="123444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07208" y="1234440"/>
            <a:ext cx="73152" cy="1234440"/>
          </a:xfrm>
          <a:prstGeom prst="rect">
            <a:avLst/>
          </a:prstGeom>
          <a:solidFill>
            <a:srgbClr val="1E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08376" y="1399032"/>
            <a:ext cx="1719072" cy="274320"/>
          </a:xfrm>
          <a:prstGeom prst="rect">
            <a:avLst/>
          </a:prstGeom>
          <a:noFill/>
        </p:spPr>
        <p:txBody>
          <a:bodyPr wrap="square" anchor="t">
            <a:spAutoFit/>
          </a:bodyPr>
          <a:lstStyle/>
          <a:p>
            <a:pPr algn="l">
              <a:defRPr sz="1100" b="1">
                <a:solidFill>
                  <a:srgbClr val="5C646C"/>
                </a:solidFill>
                <a:latin typeface="Aptos"/>
              </a:defRPr>
            </a:pPr>
            <a:r>
              <a:t>Profit</a:t>
            </a:r>
          </a:p>
        </p:txBody>
      </p:sp>
      <p:sp>
        <p:nvSpPr>
          <p:cNvPr id="12" name="TextBox 11"/>
          <p:cNvSpPr txBox="1"/>
          <p:nvPr/>
        </p:nvSpPr>
        <p:spPr>
          <a:xfrm>
            <a:off x="3008376" y="1709928"/>
            <a:ext cx="1719072" cy="502920"/>
          </a:xfrm>
          <a:prstGeom prst="rect">
            <a:avLst/>
          </a:prstGeom>
          <a:noFill/>
        </p:spPr>
        <p:txBody>
          <a:bodyPr wrap="square" anchor="t">
            <a:spAutoFit/>
          </a:bodyPr>
          <a:lstStyle/>
          <a:p>
            <a:pPr algn="l">
              <a:defRPr sz="2400" b="1">
                <a:solidFill>
                  <a:srgbClr val="1E708C"/>
                </a:solidFill>
                <a:latin typeface="Aptos"/>
              </a:defRPr>
            </a:pPr>
            <a:r>
              <a:t>$286K</a:t>
            </a:r>
          </a:p>
        </p:txBody>
      </p:sp>
      <p:sp>
        <p:nvSpPr>
          <p:cNvPr id="13" name="Rounded Rectangle 12"/>
          <p:cNvSpPr/>
          <p:nvPr/>
        </p:nvSpPr>
        <p:spPr>
          <a:xfrm>
            <a:off x="5111496" y="1234440"/>
            <a:ext cx="2084831" cy="123444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111496" y="1234440"/>
            <a:ext cx="73152" cy="1234440"/>
          </a:xfrm>
          <a:prstGeom prst="rect">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12664" y="1399032"/>
            <a:ext cx="1719072" cy="274320"/>
          </a:xfrm>
          <a:prstGeom prst="rect">
            <a:avLst/>
          </a:prstGeom>
          <a:noFill/>
        </p:spPr>
        <p:txBody>
          <a:bodyPr wrap="square" anchor="t">
            <a:spAutoFit/>
          </a:bodyPr>
          <a:lstStyle/>
          <a:p>
            <a:pPr algn="l">
              <a:defRPr sz="1100" b="1">
                <a:solidFill>
                  <a:srgbClr val="5C646C"/>
                </a:solidFill>
                <a:latin typeface="Aptos"/>
              </a:defRPr>
            </a:pPr>
            <a:r>
              <a:t>Profit Margin</a:t>
            </a:r>
          </a:p>
        </p:txBody>
      </p:sp>
      <p:sp>
        <p:nvSpPr>
          <p:cNvPr id="16" name="TextBox 15"/>
          <p:cNvSpPr txBox="1"/>
          <p:nvPr/>
        </p:nvSpPr>
        <p:spPr>
          <a:xfrm>
            <a:off x="5312664" y="1709928"/>
            <a:ext cx="1719072" cy="502920"/>
          </a:xfrm>
          <a:prstGeom prst="rect">
            <a:avLst/>
          </a:prstGeom>
          <a:noFill/>
        </p:spPr>
        <p:txBody>
          <a:bodyPr wrap="square" anchor="t">
            <a:spAutoFit/>
          </a:bodyPr>
          <a:lstStyle/>
          <a:p>
            <a:pPr algn="l">
              <a:defRPr sz="2400" b="1">
                <a:solidFill>
                  <a:srgbClr val="41B6E6"/>
                </a:solidFill>
                <a:latin typeface="Aptos"/>
              </a:defRPr>
            </a:pPr>
            <a:r>
              <a:t>12.47%</a:t>
            </a:r>
          </a:p>
        </p:txBody>
      </p:sp>
      <p:sp>
        <p:nvSpPr>
          <p:cNvPr id="17" name="Rounded Rectangle 16"/>
          <p:cNvSpPr/>
          <p:nvPr/>
        </p:nvSpPr>
        <p:spPr>
          <a:xfrm>
            <a:off x="7415784" y="1234440"/>
            <a:ext cx="2084831" cy="123444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415784" y="1234440"/>
            <a:ext cx="73152" cy="1234440"/>
          </a:xfrm>
          <a:prstGeom prst="rect">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16952" y="1399032"/>
            <a:ext cx="1719072" cy="274320"/>
          </a:xfrm>
          <a:prstGeom prst="rect">
            <a:avLst/>
          </a:prstGeom>
          <a:noFill/>
        </p:spPr>
        <p:txBody>
          <a:bodyPr wrap="square" anchor="t">
            <a:spAutoFit/>
          </a:bodyPr>
          <a:lstStyle/>
          <a:p>
            <a:pPr algn="l">
              <a:defRPr sz="1100" b="1">
                <a:solidFill>
                  <a:srgbClr val="5C646C"/>
                </a:solidFill>
                <a:latin typeface="Aptos"/>
              </a:defRPr>
            </a:pPr>
            <a:r>
              <a:t>Orders</a:t>
            </a:r>
          </a:p>
        </p:txBody>
      </p:sp>
      <p:sp>
        <p:nvSpPr>
          <p:cNvPr id="20" name="TextBox 19"/>
          <p:cNvSpPr txBox="1"/>
          <p:nvPr/>
        </p:nvSpPr>
        <p:spPr>
          <a:xfrm>
            <a:off x="7616952" y="1709928"/>
            <a:ext cx="1719072" cy="502920"/>
          </a:xfrm>
          <a:prstGeom prst="rect">
            <a:avLst/>
          </a:prstGeom>
          <a:noFill/>
        </p:spPr>
        <p:txBody>
          <a:bodyPr wrap="square" anchor="t">
            <a:spAutoFit/>
          </a:bodyPr>
          <a:lstStyle/>
          <a:p>
            <a:pPr algn="l">
              <a:defRPr sz="2400" b="1">
                <a:solidFill>
                  <a:srgbClr val="41B6E6"/>
                </a:solidFill>
                <a:latin typeface="Aptos"/>
              </a:defRPr>
            </a:pPr>
            <a:r>
              <a:t>5,009</a:t>
            </a:r>
          </a:p>
        </p:txBody>
      </p:sp>
      <p:sp>
        <p:nvSpPr>
          <p:cNvPr id="21" name="Rounded Rectangle 20"/>
          <p:cNvSpPr/>
          <p:nvPr/>
        </p:nvSpPr>
        <p:spPr>
          <a:xfrm>
            <a:off x="9720072" y="1234440"/>
            <a:ext cx="2084831" cy="123444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720072" y="1234440"/>
            <a:ext cx="73152" cy="1234440"/>
          </a:xfrm>
          <a:prstGeom prst="rect">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21240" y="1399032"/>
            <a:ext cx="1719072" cy="274320"/>
          </a:xfrm>
          <a:prstGeom prst="rect">
            <a:avLst/>
          </a:prstGeom>
          <a:noFill/>
        </p:spPr>
        <p:txBody>
          <a:bodyPr wrap="square" anchor="t">
            <a:spAutoFit/>
          </a:bodyPr>
          <a:lstStyle/>
          <a:p>
            <a:pPr algn="l">
              <a:defRPr sz="1100" b="1">
                <a:solidFill>
                  <a:srgbClr val="5C646C"/>
                </a:solidFill>
                <a:latin typeface="Aptos"/>
              </a:defRPr>
            </a:pPr>
            <a:r>
              <a:t>Avg Order Value</a:t>
            </a:r>
          </a:p>
        </p:txBody>
      </p:sp>
      <p:sp>
        <p:nvSpPr>
          <p:cNvPr id="24" name="TextBox 23"/>
          <p:cNvSpPr txBox="1"/>
          <p:nvPr/>
        </p:nvSpPr>
        <p:spPr>
          <a:xfrm>
            <a:off x="9921240" y="1709928"/>
            <a:ext cx="1719072" cy="502920"/>
          </a:xfrm>
          <a:prstGeom prst="rect">
            <a:avLst/>
          </a:prstGeom>
          <a:noFill/>
        </p:spPr>
        <p:txBody>
          <a:bodyPr wrap="square" anchor="t">
            <a:spAutoFit/>
          </a:bodyPr>
          <a:lstStyle/>
          <a:p>
            <a:pPr algn="l">
              <a:defRPr sz="2400" b="1">
                <a:solidFill>
                  <a:srgbClr val="41B6E6"/>
                </a:solidFill>
                <a:latin typeface="Aptos"/>
              </a:defRPr>
            </a:pPr>
            <a:r>
              <a:t>$459</a:t>
            </a:r>
          </a:p>
        </p:txBody>
      </p:sp>
      <p:sp>
        <p:nvSpPr>
          <p:cNvPr id="25" name="TextBox 24"/>
          <p:cNvSpPr txBox="1"/>
          <p:nvPr/>
        </p:nvSpPr>
        <p:spPr>
          <a:xfrm>
            <a:off x="658368" y="2788920"/>
            <a:ext cx="10972800" cy="320040"/>
          </a:xfrm>
          <a:prstGeom prst="rect">
            <a:avLst/>
          </a:prstGeom>
          <a:noFill/>
        </p:spPr>
        <p:txBody>
          <a:bodyPr wrap="square" anchor="t">
            <a:spAutoFit/>
          </a:bodyPr>
          <a:lstStyle/>
          <a:p>
            <a:pPr algn="l">
              <a:defRPr sz="1200" b="1">
                <a:solidFill>
                  <a:srgbClr val="256699"/>
                </a:solidFill>
                <a:latin typeface="Aptos"/>
              </a:defRPr>
            </a:pPr>
            <a:r>
              <a:t>EXECUTIVE READOUT</a:t>
            </a:r>
          </a:p>
        </p:txBody>
      </p:sp>
      <p:sp>
        <p:nvSpPr>
          <p:cNvPr id="26" name="Rounded Rectangle 25"/>
          <p:cNvSpPr/>
          <p:nvPr/>
        </p:nvSpPr>
        <p:spPr>
          <a:xfrm>
            <a:off x="658368" y="3246120"/>
            <a:ext cx="3429000" cy="201168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58368" y="3246120"/>
            <a:ext cx="73152" cy="2011680"/>
          </a:xfrm>
          <a:prstGeom prst="rect">
            <a:avLst/>
          </a:prstGeom>
          <a:solidFill>
            <a:srgbClr val="418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9536" y="3410712"/>
            <a:ext cx="3063240" cy="274320"/>
          </a:xfrm>
          <a:prstGeom prst="rect">
            <a:avLst/>
          </a:prstGeom>
          <a:noFill/>
        </p:spPr>
        <p:txBody>
          <a:bodyPr wrap="square" anchor="t">
            <a:spAutoFit/>
          </a:bodyPr>
          <a:lstStyle/>
          <a:p>
            <a:pPr algn="l">
              <a:defRPr sz="1100" b="1">
                <a:solidFill>
                  <a:srgbClr val="5C646C"/>
                </a:solidFill>
                <a:latin typeface="Aptos"/>
              </a:defRPr>
            </a:pPr>
            <a:r>
              <a:t>Positive baseline</a:t>
            </a:r>
          </a:p>
        </p:txBody>
      </p:sp>
      <p:sp>
        <p:nvSpPr>
          <p:cNvPr id="29" name="TextBox 28"/>
          <p:cNvSpPr txBox="1"/>
          <p:nvPr/>
        </p:nvSpPr>
        <p:spPr>
          <a:xfrm>
            <a:off x="859536" y="3749039"/>
            <a:ext cx="3063240" cy="1325880"/>
          </a:xfrm>
          <a:prstGeom prst="rect">
            <a:avLst/>
          </a:prstGeom>
          <a:noFill/>
        </p:spPr>
        <p:txBody>
          <a:bodyPr wrap="square" anchor="t">
            <a:spAutoFit/>
          </a:bodyPr>
          <a:lstStyle/>
          <a:p>
            <a:pPr algn="l">
              <a:defRPr sz="1150" b="0">
                <a:solidFill>
                  <a:srgbClr val="2D343A"/>
                </a:solidFill>
                <a:latin typeface="Aptos"/>
              </a:defRPr>
            </a:pPr>
            <a:r>
              <a:t>$2.30M revenue and $286K profit establish a profitable historical base.</a:t>
            </a:r>
          </a:p>
        </p:txBody>
      </p:sp>
      <p:sp>
        <p:nvSpPr>
          <p:cNvPr id="30" name="Rounded Rectangle 29"/>
          <p:cNvSpPr/>
          <p:nvPr/>
        </p:nvSpPr>
        <p:spPr>
          <a:xfrm>
            <a:off x="4389120" y="3246120"/>
            <a:ext cx="3429000" cy="201168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89120" y="3246120"/>
            <a:ext cx="73152" cy="2011680"/>
          </a:xfrm>
          <a:prstGeom prst="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90288" y="3410712"/>
            <a:ext cx="3063240" cy="274320"/>
          </a:xfrm>
          <a:prstGeom prst="rect">
            <a:avLst/>
          </a:prstGeom>
          <a:noFill/>
        </p:spPr>
        <p:txBody>
          <a:bodyPr wrap="square" anchor="t">
            <a:spAutoFit/>
          </a:bodyPr>
          <a:lstStyle/>
          <a:p>
            <a:pPr algn="l">
              <a:defRPr sz="1100" b="1">
                <a:solidFill>
                  <a:srgbClr val="5C646C"/>
                </a:solidFill>
                <a:latin typeface="Aptos"/>
              </a:defRPr>
            </a:pPr>
            <a:r>
              <a:t>Hidden mix risk</a:t>
            </a:r>
          </a:p>
        </p:txBody>
      </p:sp>
      <p:sp>
        <p:nvSpPr>
          <p:cNvPr id="33" name="TextBox 32"/>
          <p:cNvSpPr txBox="1"/>
          <p:nvPr/>
        </p:nvSpPr>
        <p:spPr>
          <a:xfrm>
            <a:off x="4590288" y="3749039"/>
            <a:ext cx="3063240" cy="1325880"/>
          </a:xfrm>
          <a:prstGeom prst="rect">
            <a:avLst/>
          </a:prstGeom>
          <a:noFill/>
        </p:spPr>
        <p:txBody>
          <a:bodyPr wrap="square" anchor="t">
            <a:spAutoFit/>
          </a:bodyPr>
          <a:lstStyle/>
          <a:p>
            <a:pPr algn="l">
              <a:defRPr sz="1150" b="0">
                <a:solidFill>
                  <a:srgbClr val="2D343A"/>
                </a:solidFill>
                <a:latin typeface="Aptos"/>
              </a:defRPr>
            </a:pPr>
            <a:r>
              <a:rPr dirty="0"/>
              <a:t>Aggregate KPIs conceal large differences in category profitability and regional contribution.</a:t>
            </a:r>
          </a:p>
        </p:txBody>
      </p:sp>
      <p:sp>
        <p:nvSpPr>
          <p:cNvPr id="34" name="Rounded Rectangle 33"/>
          <p:cNvSpPr/>
          <p:nvPr/>
        </p:nvSpPr>
        <p:spPr>
          <a:xfrm>
            <a:off x="8119872" y="3246120"/>
            <a:ext cx="3429000" cy="201168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119872" y="3246120"/>
            <a:ext cx="73152" cy="2011680"/>
          </a:xfrm>
          <a:prstGeom prst="rect">
            <a:avLst/>
          </a:prstGeom>
          <a:solidFill>
            <a:srgbClr val="C4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21040" y="3410712"/>
            <a:ext cx="3063240" cy="274320"/>
          </a:xfrm>
          <a:prstGeom prst="rect">
            <a:avLst/>
          </a:prstGeom>
          <a:noFill/>
        </p:spPr>
        <p:txBody>
          <a:bodyPr wrap="square" anchor="t">
            <a:spAutoFit/>
          </a:bodyPr>
          <a:lstStyle/>
          <a:p>
            <a:pPr algn="l">
              <a:defRPr sz="1100" b="1">
                <a:solidFill>
                  <a:srgbClr val="5C646C"/>
                </a:solidFill>
                <a:latin typeface="Aptos"/>
              </a:defRPr>
            </a:pPr>
            <a:r>
              <a:t>Planning challenge</a:t>
            </a:r>
          </a:p>
        </p:txBody>
      </p:sp>
      <p:sp>
        <p:nvSpPr>
          <p:cNvPr id="37" name="TextBox 36"/>
          <p:cNvSpPr txBox="1"/>
          <p:nvPr/>
        </p:nvSpPr>
        <p:spPr>
          <a:xfrm>
            <a:off x="8321040" y="3749039"/>
            <a:ext cx="3063240" cy="1325880"/>
          </a:xfrm>
          <a:prstGeom prst="rect">
            <a:avLst/>
          </a:prstGeom>
          <a:noFill/>
        </p:spPr>
        <p:txBody>
          <a:bodyPr wrap="square" anchor="t">
            <a:spAutoFit/>
          </a:bodyPr>
          <a:lstStyle/>
          <a:p>
            <a:pPr algn="l">
              <a:defRPr sz="1150" b="0">
                <a:solidFill>
                  <a:srgbClr val="2D343A"/>
                </a:solidFill>
                <a:latin typeface="Aptos"/>
              </a:defRPr>
            </a:pPr>
            <a:r>
              <a:t>Revenue varies materially over time, increasing the importance of forecast validation.</a:t>
            </a:r>
          </a:p>
        </p:txBody>
      </p:sp>
      <p:sp>
        <p:nvSpPr>
          <p:cNvPr id="38" name="TextBox 37"/>
          <p:cNvSpPr txBox="1"/>
          <p:nvPr/>
        </p:nvSpPr>
        <p:spPr>
          <a:xfrm>
            <a:off x="658368" y="5650992"/>
            <a:ext cx="10881360" cy="457200"/>
          </a:xfrm>
          <a:prstGeom prst="rect">
            <a:avLst/>
          </a:prstGeom>
          <a:noFill/>
        </p:spPr>
        <p:txBody>
          <a:bodyPr wrap="square" anchor="t">
            <a:spAutoFit/>
          </a:bodyPr>
          <a:lstStyle/>
          <a:p>
            <a:pPr algn="l">
              <a:defRPr sz="1400" b="1">
                <a:solidFill>
                  <a:srgbClr val="184669"/>
                </a:solidFill>
                <a:latin typeface="Aptos"/>
              </a:defRPr>
            </a:pPr>
            <a:r>
              <a:t>Management takeaway: overall performance is positive, but the quality and predictability of that performance require deeper diagnosis.</a:t>
            </a:r>
          </a:p>
        </p:txBody>
      </p:sp>
      <p:sp>
        <p:nvSpPr>
          <p:cNvPr id="39" name="Rectangle 38"/>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04</a:t>
            </a:r>
          </a:p>
        </p:txBody>
      </p:sp>
    </p:spTree>
  </p:cSld>
  <p:clrMapOvr>
    <a:masterClrMapping/>
  </p:clrMapOvr>
  <mc:AlternateContent xmlns:mc="http://schemas.openxmlformats.org/markup-compatibility/2006" xmlns:p14="http://schemas.microsoft.com/office/powerpoint/2010/main">
    <mc:Choice Requires="p14">
      <p:transition spd="slow" p14:dur="2000" advTm="80518"/>
    </mc:Choice>
    <mc:Fallback xmlns="">
      <p:transition spd="slow" advTm="8051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6P Business Diagnostic Framework</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Use the 6Ps to organize evidence, hypotheses and next-level analysis.</a:t>
            </a:r>
          </a:p>
        </p:txBody>
      </p:sp>
      <p:sp>
        <p:nvSpPr>
          <p:cNvPr id="5" name="Rounded Rectangle 4"/>
          <p:cNvSpPr/>
          <p:nvPr/>
        </p:nvSpPr>
        <p:spPr>
          <a:xfrm>
            <a:off x="594360" y="1371600"/>
            <a:ext cx="3520440" cy="19659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371600"/>
            <a:ext cx="73152" cy="1965960"/>
          </a:xfrm>
          <a:prstGeom prst="rect">
            <a:avLst/>
          </a:prstGeom>
          <a:solidFill>
            <a:srgbClr val="25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536192"/>
            <a:ext cx="3154680" cy="274320"/>
          </a:xfrm>
          <a:prstGeom prst="rect">
            <a:avLst/>
          </a:prstGeom>
          <a:noFill/>
        </p:spPr>
        <p:txBody>
          <a:bodyPr wrap="square" anchor="t">
            <a:spAutoFit/>
          </a:bodyPr>
          <a:lstStyle/>
          <a:p>
            <a:pPr algn="l">
              <a:defRPr sz="1100" b="1">
                <a:solidFill>
                  <a:srgbClr val="5C646C"/>
                </a:solidFill>
                <a:latin typeface="Aptos"/>
              </a:defRPr>
            </a:pPr>
            <a:r>
              <a:t>People</a:t>
            </a:r>
          </a:p>
        </p:txBody>
      </p:sp>
      <p:sp>
        <p:nvSpPr>
          <p:cNvPr id="8" name="TextBox 7"/>
          <p:cNvSpPr txBox="1"/>
          <p:nvPr/>
        </p:nvSpPr>
        <p:spPr>
          <a:xfrm>
            <a:off x="795528" y="1874519"/>
            <a:ext cx="3154680" cy="1280160"/>
          </a:xfrm>
          <a:prstGeom prst="rect">
            <a:avLst/>
          </a:prstGeom>
          <a:noFill/>
        </p:spPr>
        <p:txBody>
          <a:bodyPr wrap="square" anchor="t">
            <a:spAutoFit/>
          </a:bodyPr>
          <a:lstStyle/>
          <a:p>
            <a:pPr algn="l">
              <a:defRPr sz="1150" b="0">
                <a:solidFill>
                  <a:srgbClr val="2D343A"/>
                </a:solidFill>
                <a:latin typeface="Aptos"/>
              </a:defRPr>
            </a:pPr>
            <a:r>
              <a:t>Consumer leads customer-segment revenue; assess segment/account concentration.</a:t>
            </a:r>
          </a:p>
        </p:txBody>
      </p:sp>
      <p:sp>
        <p:nvSpPr>
          <p:cNvPr id="9" name="Rounded Rectangle 8"/>
          <p:cNvSpPr/>
          <p:nvPr/>
        </p:nvSpPr>
        <p:spPr>
          <a:xfrm>
            <a:off x="4434840" y="1371600"/>
            <a:ext cx="3520440" cy="19659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1371600"/>
            <a:ext cx="73152" cy="1965960"/>
          </a:xfrm>
          <a:prstGeom prst="rect">
            <a:avLst/>
          </a:prstGeom>
          <a:solidFill>
            <a:srgbClr val="1E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36008" y="1536192"/>
            <a:ext cx="3154680" cy="274320"/>
          </a:xfrm>
          <a:prstGeom prst="rect">
            <a:avLst/>
          </a:prstGeom>
          <a:noFill/>
        </p:spPr>
        <p:txBody>
          <a:bodyPr wrap="square" anchor="t">
            <a:spAutoFit/>
          </a:bodyPr>
          <a:lstStyle/>
          <a:p>
            <a:pPr algn="l">
              <a:defRPr sz="1100" b="1">
                <a:solidFill>
                  <a:srgbClr val="5C646C"/>
                </a:solidFill>
                <a:latin typeface="Aptos"/>
              </a:defRPr>
            </a:pPr>
            <a:r>
              <a:t>Product</a:t>
            </a:r>
          </a:p>
        </p:txBody>
      </p:sp>
      <p:sp>
        <p:nvSpPr>
          <p:cNvPr id="12" name="TextBox 11"/>
          <p:cNvSpPr txBox="1"/>
          <p:nvPr/>
        </p:nvSpPr>
        <p:spPr>
          <a:xfrm>
            <a:off x="4636008" y="1874519"/>
            <a:ext cx="3154680" cy="1280160"/>
          </a:xfrm>
          <a:prstGeom prst="rect">
            <a:avLst/>
          </a:prstGeom>
          <a:noFill/>
        </p:spPr>
        <p:txBody>
          <a:bodyPr wrap="square" anchor="t">
            <a:spAutoFit/>
          </a:bodyPr>
          <a:lstStyle/>
          <a:p>
            <a:pPr algn="l">
              <a:defRPr sz="1150" b="0">
                <a:solidFill>
                  <a:srgbClr val="2D343A"/>
                </a:solidFill>
                <a:latin typeface="Aptos"/>
              </a:defRPr>
            </a:pPr>
            <a:r>
              <a:t>Technology leads; Furniture shows a major revenue-to-profit disconnect.</a:t>
            </a:r>
          </a:p>
        </p:txBody>
      </p:sp>
      <p:sp>
        <p:nvSpPr>
          <p:cNvPr id="13" name="Rounded Rectangle 12"/>
          <p:cNvSpPr/>
          <p:nvPr/>
        </p:nvSpPr>
        <p:spPr>
          <a:xfrm>
            <a:off x="8275320" y="1371600"/>
            <a:ext cx="3520440" cy="19659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75320" y="1371600"/>
            <a:ext cx="73152" cy="1965960"/>
          </a:xfrm>
          <a:prstGeom prst="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76488" y="1536192"/>
            <a:ext cx="3154680" cy="274320"/>
          </a:xfrm>
          <a:prstGeom prst="rect">
            <a:avLst/>
          </a:prstGeom>
          <a:noFill/>
        </p:spPr>
        <p:txBody>
          <a:bodyPr wrap="square" anchor="t">
            <a:spAutoFit/>
          </a:bodyPr>
          <a:lstStyle/>
          <a:p>
            <a:pPr algn="l">
              <a:defRPr sz="1100" b="1">
                <a:solidFill>
                  <a:srgbClr val="5C646C"/>
                </a:solidFill>
                <a:latin typeface="Aptos"/>
              </a:defRPr>
            </a:pPr>
            <a:r>
              <a:t>Price</a:t>
            </a:r>
          </a:p>
        </p:txBody>
      </p:sp>
      <p:sp>
        <p:nvSpPr>
          <p:cNvPr id="16" name="TextBox 15"/>
          <p:cNvSpPr txBox="1"/>
          <p:nvPr/>
        </p:nvSpPr>
        <p:spPr>
          <a:xfrm>
            <a:off x="8476488" y="1874519"/>
            <a:ext cx="3154680" cy="1280160"/>
          </a:xfrm>
          <a:prstGeom prst="rect">
            <a:avLst/>
          </a:prstGeom>
          <a:noFill/>
        </p:spPr>
        <p:txBody>
          <a:bodyPr wrap="square" anchor="t">
            <a:spAutoFit/>
          </a:bodyPr>
          <a:lstStyle/>
          <a:p>
            <a:pPr algn="l">
              <a:defRPr sz="1150" b="0">
                <a:solidFill>
                  <a:srgbClr val="2D343A"/>
                </a:solidFill>
                <a:latin typeface="Aptos"/>
              </a:defRPr>
            </a:pPr>
            <a:r>
              <a:t>Discount and pricing effects are plausible margin drivers to test—not assumed causes.</a:t>
            </a:r>
          </a:p>
        </p:txBody>
      </p:sp>
      <p:sp>
        <p:nvSpPr>
          <p:cNvPr id="17" name="Rounded Rectangle 16"/>
          <p:cNvSpPr/>
          <p:nvPr/>
        </p:nvSpPr>
        <p:spPr>
          <a:xfrm>
            <a:off x="594360" y="3703320"/>
            <a:ext cx="3520440" cy="19659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3703320"/>
            <a:ext cx="73152" cy="1965960"/>
          </a:xfrm>
          <a:prstGeom prst="rect">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5528" y="3867911"/>
            <a:ext cx="3154680" cy="274320"/>
          </a:xfrm>
          <a:prstGeom prst="rect">
            <a:avLst/>
          </a:prstGeom>
          <a:noFill/>
        </p:spPr>
        <p:txBody>
          <a:bodyPr wrap="square" anchor="t">
            <a:spAutoFit/>
          </a:bodyPr>
          <a:lstStyle/>
          <a:p>
            <a:pPr algn="l">
              <a:defRPr sz="1100" b="1">
                <a:solidFill>
                  <a:srgbClr val="5C646C"/>
                </a:solidFill>
                <a:latin typeface="Aptos"/>
              </a:defRPr>
            </a:pPr>
            <a:r>
              <a:t>Place</a:t>
            </a:r>
          </a:p>
        </p:txBody>
      </p:sp>
      <p:sp>
        <p:nvSpPr>
          <p:cNvPr id="20" name="TextBox 19"/>
          <p:cNvSpPr txBox="1"/>
          <p:nvPr/>
        </p:nvSpPr>
        <p:spPr>
          <a:xfrm>
            <a:off x="795528" y="4206240"/>
            <a:ext cx="3154680" cy="1280160"/>
          </a:xfrm>
          <a:prstGeom prst="rect">
            <a:avLst/>
          </a:prstGeom>
          <a:noFill/>
        </p:spPr>
        <p:txBody>
          <a:bodyPr wrap="square" anchor="t">
            <a:spAutoFit/>
          </a:bodyPr>
          <a:lstStyle/>
          <a:p>
            <a:pPr algn="l">
              <a:defRPr sz="1150" b="0">
                <a:solidFill>
                  <a:srgbClr val="2D343A"/>
                </a:solidFill>
                <a:latin typeface="Aptos"/>
              </a:defRPr>
            </a:pPr>
            <a:r>
              <a:t>Compare regional revenue, profit and shipping performance.</a:t>
            </a:r>
          </a:p>
        </p:txBody>
      </p:sp>
      <p:sp>
        <p:nvSpPr>
          <p:cNvPr id="21" name="Rounded Rectangle 20"/>
          <p:cNvSpPr/>
          <p:nvPr/>
        </p:nvSpPr>
        <p:spPr>
          <a:xfrm>
            <a:off x="4434840" y="3703320"/>
            <a:ext cx="3520440" cy="19659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34840" y="3703320"/>
            <a:ext cx="73152" cy="1965960"/>
          </a:xfrm>
          <a:prstGeom prst="rect">
            <a:avLst/>
          </a:prstGeom>
          <a:solidFill>
            <a:srgbClr val="C4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36008" y="3867911"/>
            <a:ext cx="3154680" cy="274320"/>
          </a:xfrm>
          <a:prstGeom prst="rect">
            <a:avLst/>
          </a:prstGeom>
          <a:noFill/>
        </p:spPr>
        <p:txBody>
          <a:bodyPr wrap="square" anchor="t">
            <a:spAutoFit/>
          </a:bodyPr>
          <a:lstStyle/>
          <a:p>
            <a:pPr algn="l">
              <a:defRPr sz="1100" b="1">
                <a:solidFill>
                  <a:srgbClr val="5C646C"/>
                </a:solidFill>
                <a:latin typeface="Aptos"/>
              </a:defRPr>
            </a:pPr>
            <a:r>
              <a:t>Period</a:t>
            </a:r>
          </a:p>
        </p:txBody>
      </p:sp>
      <p:sp>
        <p:nvSpPr>
          <p:cNvPr id="24" name="TextBox 23"/>
          <p:cNvSpPr txBox="1"/>
          <p:nvPr/>
        </p:nvSpPr>
        <p:spPr>
          <a:xfrm>
            <a:off x="4636008" y="4206240"/>
            <a:ext cx="3154680" cy="1280160"/>
          </a:xfrm>
          <a:prstGeom prst="rect">
            <a:avLst/>
          </a:prstGeom>
          <a:noFill/>
        </p:spPr>
        <p:txBody>
          <a:bodyPr wrap="square" anchor="t">
            <a:spAutoFit/>
          </a:bodyPr>
          <a:lstStyle/>
          <a:p>
            <a:pPr algn="l">
              <a:defRPr sz="1150" b="0">
                <a:solidFill>
                  <a:srgbClr val="2D343A"/>
                </a:solidFill>
                <a:latin typeface="Aptos"/>
              </a:defRPr>
            </a:pPr>
            <a:r>
              <a:rPr lang="en-US" dirty="0"/>
              <a:t>Assess monthly/quarterly volatility, seasonality and shipping-time trends.</a:t>
            </a:r>
          </a:p>
        </p:txBody>
      </p:sp>
      <p:sp>
        <p:nvSpPr>
          <p:cNvPr id="25" name="Rounded Rectangle 24"/>
          <p:cNvSpPr/>
          <p:nvPr/>
        </p:nvSpPr>
        <p:spPr>
          <a:xfrm>
            <a:off x="8275320" y="3703320"/>
            <a:ext cx="3520440" cy="19659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75320" y="3703320"/>
            <a:ext cx="73152" cy="1965960"/>
          </a:xfrm>
          <a:prstGeom prst="rect">
            <a:avLst/>
          </a:prstGeom>
          <a:solidFill>
            <a:srgbClr val="418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76488" y="3867911"/>
            <a:ext cx="3154680" cy="274320"/>
          </a:xfrm>
          <a:prstGeom prst="rect">
            <a:avLst/>
          </a:prstGeom>
          <a:noFill/>
        </p:spPr>
        <p:txBody>
          <a:bodyPr wrap="square" anchor="t">
            <a:spAutoFit/>
          </a:bodyPr>
          <a:lstStyle/>
          <a:p>
            <a:pPr algn="l">
              <a:defRPr sz="1100" b="1">
                <a:solidFill>
                  <a:srgbClr val="5C646C"/>
                </a:solidFill>
                <a:latin typeface="Aptos"/>
              </a:defRPr>
            </a:pPr>
            <a:r>
              <a:t>Promotion</a:t>
            </a:r>
          </a:p>
        </p:txBody>
      </p:sp>
      <p:sp>
        <p:nvSpPr>
          <p:cNvPr id="28" name="TextBox 27"/>
          <p:cNvSpPr txBox="1"/>
          <p:nvPr/>
        </p:nvSpPr>
        <p:spPr>
          <a:xfrm>
            <a:off x="8476488" y="4206240"/>
            <a:ext cx="3154680" cy="1280160"/>
          </a:xfrm>
          <a:prstGeom prst="rect">
            <a:avLst/>
          </a:prstGeom>
          <a:noFill/>
        </p:spPr>
        <p:txBody>
          <a:bodyPr wrap="square" anchor="t">
            <a:spAutoFit/>
          </a:bodyPr>
          <a:lstStyle/>
          <a:p>
            <a:pPr algn="l">
              <a:defRPr sz="1150" b="0">
                <a:solidFill>
                  <a:srgbClr val="2D343A"/>
                </a:solidFill>
                <a:latin typeface="Aptos"/>
              </a:defRPr>
            </a:pPr>
            <a:r>
              <a:t>Evaluate campaign/promotion effects only if supporting promotion data is available.</a:t>
            </a:r>
          </a:p>
        </p:txBody>
      </p:sp>
      <p:sp>
        <p:nvSpPr>
          <p:cNvPr id="29" name="TextBox 28"/>
          <p:cNvSpPr txBox="1"/>
          <p:nvPr/>
        </p:nvSpPr>
        <p:spPr>
          <a:xfrm>
            <a:off x="658368" y="6080760"/>
            <a:ext cx="10972800" cy="274320"/>
          </a:xfrm>
          <a:prstGeom prst="rect">
            <a:avLst/>
          </a:prstGeom>
          <a:noFill/>
        </p:spPr>
        <p:txBody>
          <a:bodyPr wrap="square" anchor="t">
            <a:spAutoFit/>
          </a:bodyPr>
          <a:lstStyle/>
          <a:p>
            <a:pPr algn="l">
              <a:defRPr sz="1200" b="1">
                <a:solidFill>
                  <a:srgbClr val="184669"/>
                </a:solidFill>
                <a:latin typeface="Aptos"/>
              </a:defRPr>
            </a:pPr>
            <a:r>
              <a:t>Analytical discipline: evidence first → hypothesis second → targeted diagnostic test third.</a:t>
            </a:r>
          </a:p>
        </p:txBody>
      </p:sp>
      <p:sp>
        <p:nvSpPr>
          <p:cNvPr id="30" name="Rectangle 29"/>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05</a:t>
            </a:r>
          </a:p>
        </p:txBody>
      </p:sp>
    </p:spTree>
  </p:cSld>
  <p:clrMapOvr>
    <a:masterClrMapping/>
  </p:clrMapOvr>
  <mc:AlternateContent xmlns:mc="http://schemas.openxmlformats.org/markup-compatibility/2006" xmlns:p14="http://schemas.microsoft.com/office/powerpoint/2010/main">
    <mc:Choice Requires="p14">
      <p:transition spd="slow" p14:dur="2000" advTm="74196"/>
    </mc:Choice>
    <mc:Fallback xmlns="">
      <p:transition spd="slow" advTm="7419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66928" y="310896"/>
            <a:ext cx="10972800" cy="438912"/>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500" b="1">
                <a:solidFill>
                  <a:srgbClr val="2D343A"/>
                </a:solidFill>
                <a:latin typeface="Aptos"/>
              </a:defRPr>
            </a:pPr>
            <a:r>
              <a:rPr kumimoji="0" sz="2500" b="1" i="0" u="none" strike="noStrike" kern="1200" cap="none" spc="0" normalizeH="0" baseline="0" noProof="0">
                <a:ln>
                  <a:noFill/>
                </a:ln>
                <a:solidFill>
                  <a:srgbClr val="2D343A"/>
                </a:solidFill>
                <a:effectLst/>
                <a:uLnTx/>
                <a:uFillTx/>
                <a:latin typeface="Aptos"/>
                <a:ea typeface="+mn-ea"/>
                <a:cs typeface="+mn-cs"/>
              </a:rPr>
              <a:t>Customer, Product, Regional &amp; Shipping Performance</a:t>
            </a:r>
          </a:p>
        </p:txBody>
      </p:sp>
      <p:sp>
        <p:nvSpPr>
          <p:cNvPr id="4" name="TextBox 3"/>
          <p:cNvSpPr txBox="1"/>
          <p:nvPr/>
        </p:nvSpPr>
        <p:spPr>
          <a:xfrm>
            <a:off x="585216" y="804672"/>
            <a:ext cx="10972800" cy="27432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0">
                <a:solidFill>
                  <a:srgbClr val="5C646C"/>
                </a:solidFill>
                <a:latin typeface="Aptos"/>
              </a:defRPr>
            </a:pPr>
            <a:r>
              <a:rPr kumimoji="0" sz="1050" b="0" i="0" u="none" strike="noStrike" kern="1200" cap="none" spc="0" normalizeH="0" baseline="0" noProof="0">
                <a:ln>
                  <a:noFill/>
                </a:ln>
                <a:solidFill>
                  <a:srgbClr val="5C646C"/>
                </a:solidFill>
                <a:effectLst/>
                <a:uLnTx/>
                <a:uFillTx/>
                <a:latin typeface="Aptos"/>
                <a:ea typeface="+mn-ea"/>
                <a:cs typeface="+mn-cs"/>
              </a:rPr>
              <a:t>Key performance drivers mapped directly to the 6P business diagnostic framework.</a:t>
            </a:r>
          </a:p>
        </p:txBody>
      </p:sp>
      <p:sp>
        <p:nvSpPr>
          <p:cNvPr id="5" name="Rounded Rectangle 4"/>
          <p:cNvSpPr/>
          <p:nvPr/>
        </p:nvSpPr>
        <p:spPr>
          <a:xfrm>
            <a:off x="566928" y="1417320"/>
            <a:ext cx="2542032" cy="3794760"/>
          </a:xfrm>
          <a:prstGeom prst="roundRect">
            <a:avLst/>
          </a:prstGeom>
          <a:solidFill>
            <a:srgbClr val="FFFFFF"/>
          </a:solidFill>
          <a:ln w="15240">
            <a:solidFill>
              <a:srgbClr val="D5DF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66928" y="1417320"/>
            <a:ext cx="73152" cy="3794760"/>
          </a:xfrm>
          <a:prstGeom prst="rect">
            <a:avLst/>
          </a:prstGeom>
          <a:solidFill>
            <a:srgbClr val="25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68096" y="1627632"/>
            <a:ext cx="2103120" cy="256032"/>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5C646C"/>
                </a:solidFill>
                <a:latin typeface="Aptos"/>
              </a:defRPr>
            </a:pPr>
            <a:r>
              <a:rPr kumimoji="0" sz="1100" b="1" i="0" u="none" strike="noStrike" kern="1200" cap="none" spc="0" normalizeH="0" baseline="0" noProof="0">
                <a:ln>
                  <a:noFill/>
                </a:ln>
                <a:solidFill>
                  <a:srgbClr val="5C646C"/>
                </a:solidFill>
                <a:effectLst/>
                <a:uLnTx/>
                <a:uFillTx/>
                <a:latin typeface="Aptos"/>
                <a:ea typeface="+mn-ea"/>
                <a:cs typeface="+mn-cs"/>
              </a:rPr>
              <a:t>CUSTOMER</a:t>
            </a:r>
          </a:p>
        </p:txBody>
      </p:sp>
      <p:sp>
        <p:nvSpPr>
          <p:cNvPr id="8" name="Rounded Rectangle 7"/>
          <p:cNvSpPr/>
          <p:nvPr/>
        </p:nvSpPr>
        <p:spPr>
          <a:xfrm>
            <a:off x="768096" y="1965960"/>
            <a:ext cx="2057400" cy="411480"/>
          </a:xfrm>
          <a:prstGeom prst="roundRect">
            <a:avLst/>
          </a:prstGeom>
          <a:solidFill>
            <a:srgbClr val="25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68096" y="2039112"/>
            <a:ext cx="2057400" cy="237744"/>
          </a:xfrm>
          <a:prstGeom prst="rect">
            <a:avLst/>
          </a:prstGeom>
          <a:no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Aptos"/>
              </a:defRPr>
            </a:pPr>
            <a:r>
              <a:rPr kumimoji="0" sz="1000" b="1" i="0" u="none" strike="noStrike" kern="1200" cap="none" spc="0" normalizeH="0" baseline="0" noProof="0">
                <a:ln>
                  <a:noFill/>
                </a:ln>
                <a:solidFill>
                  <a:srgbClr val="FFFFFF"/>
                </a:solidFill>
                <a:effectLst/>
                <a:uLnTx/>
                <a:uFillTx/>
                <a:latin typeface="Aptos"/>
                <a:ea typeface="+mn-ea"/>
                <a:cs typeface="+mn-cs"/>
              </a:rPr>
              <a:t>PEOPLE</a:t>
            </a:r>
          </a:p>
        </p:txBody>
      </p:sp>
      <p:sp>
        <p:nvSpPr>
          <p:cNvPr id="10" name="TextBox 9"/>
          <p:cNvSpPr txBox="1"/>
          <p:nvPr/>
        </p:nvSpPr>
        <p:spPr>
          <a:xfrm>
            <a:off x="768096" y="2633472"/>
            <a:ext cx="2121408" cy="105156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1">
                <a:solidFill>
                  <a:srgbClr val="184669"/>
                </a:solidFill>
                <a:latin typeface="Aptos"/>
              </a:defRPr>
            </a:pPr>
            <a:r>
              <a:rPr kumimoji="0" sz="1500" b="1" i="0" u="none" strike="noStrike" kern="1200" cap="none" spc="0" normalizeH="0" baseline="0" noProof="0">
                <a:ln>
                  <a:noFill/>
                </a:ln>
                <a:solidFill>
                  <a:srgbClr val="184669"/>
                </a:solidFill>
                <a:effectLst/>
                <a:uLnTx/>
                <a:uFillTx/>
                <a:latin typeface="Aptos"/>
                <a:ea typeface="+mn-ea"/>
                <a:cs typeface="+mn-cs"/>
              </a:rPr>
              <a:t>Consumer ≈ $1.16M revenue</a:t>
            </a:r>
            <a:br>
              <a:rPr kumimoji="0" sz="1500" b="1" i="0" u="none" strike="noStrike" kern="1200" cap="none" spc="0" normalizeH="0" baseline="0" noProof="0">
                <a:ln>
                  <a:noFill/>
                </a:ln>
                <a:solidFill>
                  <a:srgbClr val="184669"/>
                </a:solidFill>
                <a:effectLst/>
                <a:uLnTx/>
                <a:uFillTx/>
                <a:latin typeface="Aptos"/>
                <a:ea typeface="+mn-ea"/>
                <a:cs typeface="+mn-cs"/>
              </a:rPr>
            </a:br>
            <a:r>
              <a:rPr kumimoji="0" sz="1500" b="1" i="0" u="none" strike="noStrike" kern="1200" cap="none" spc="0" normalizeH="0" baseline="0" noProof="0">
                <a:ln>
                  <a:noFill/>
                </a:ln>
                <a:solidFill>
                  <a:srgbClr val="184669"/>
                </a:solidFill>
                <a:effectLst/>
                <a:uLnTx/>
                <a:uFillTx/>
                <a:latin typeface="Aptos"/>
                <a:ea typeface="+mn-ea"/>
                <a:cs typeface="+mn-cs"/>
              </a:rPr>
              <a:t>≈ $134K profit</a:t>
            </a:r>
          </a:p>
        </p:txBody>
      </p:sp>
      <p:sp>
        <p:nvSpPr>
          <p:cNvPr id="11" name="Rectangle 10"/>
          <p:cNvSpPr/>
          <p:nvPr/>
        </p:nvSpPr>
        <p:spPr>
          <a:xfrm>
            <a:off x="768096" y="3776472"/>
            <a:ext cx="2057400" cy="10972"/>
          </a:xfrm>
          <a:prstGeom prst="rect">
            <a:avLst/>
          </a:prstGeom>
          <a:solidFill>
            <a:srgbClr val="DEE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768096" y="3959352"/>
            <a:ext cx="2121408" cy="86868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0">
                <a:solidFill>
                  <a:srgbClr val="2D343A"/>
                </a:solidFill>
                <a:latin typeface="Aptos"/>
              </a:defRPr>
            </a:pPr>
            <a:r>
              <a:rPr kumimoji="0" sz="1050" b="0" i="0" u="none" strike="noStrike" kern="1200" cap="none" spc="0" normalizeH="0" baseline="0" noProof="0">
                <a:ln>
                  <a:noFill/>
                </a:ln>
                <a:solidFill>
                  <a:srgbClr val="2D343A"/>
                </a:solidFill>
                <a:effectLst/>
                <a:uLnTx/>
                <a:uFillTx/>
                <a:latin typeface="Aptos"/>
                <a:ea typeface="+mn-ea"/>
                <a:cs typeface="+mn-cs"/>
              </a:rPr>
              <a:t>Largest customer segment; monitor contribution and concentration.</a:t>
            </a:r>
          </a:p>
        </p:txBody>
      </p:sp>
      <p:sp>
        <p:nvSpPr>
          <p:cNvPr id="13" name="Rounded Rectangle 12"/>
          <p:cNvSpPr/>
          <p:nvPr/>
        </p:nvSpPr>
        <p:spPr>
          <a:xfrm>
            <a:off x="3383280" y="1417320"/>
            <a:ext cx="2542032" cy="3794760"/>
          </a:xfrm>
          <a:prstGeom prst="roundRect">
            <a:avLst/>
          </a:prstGeom>
          <a:solidFill>
            <a:srgbClr val="FFFFFF"/>
          </a:solidFill>
          <a:ln w="15240">
            <a:solidFill>
              <a:srgbClr val="D5DF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3383280" y="1417320"/>
            <a:ext cx="73152" cy="3794760"/>
          </a:xfrm>
          <a:prstGeom prst="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3584448" y="1627632"/>
            <a:ext cx="2103120" cy="256032"/>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5C646C"/>
                </a:solidFill>
                <a:latin typeface="Aptos"/>
              </a:defRPr>
            </a:pPr>
            <a:r>
              <a:rPr kumimoji="0" sz="1100" b="1" i="0" u="none" strike="noStrike" kern="1200" cap="none" spc="0" normalizeH="0" baseline="0" noProof="0">
                <a:ln>
                  <a:noFill/>
                </a:ln>
                <a:solidFill>
                  <a:srgbClr val="5C646C"/>
                </a:solidFill>
                <a:effectLst/>
                <a:uLnTx/>
                <a:uFillTx/>
                <a:latin typeface="Aptos"/>
                <a:ea typeface="+mn-ea"/>
                <a:cs typeface="+mn-cs"/>
              </a:rPr>
              <a:t>PRODUCT</a:t>
            </a:r>
          </a:p>
        </p:txBody>
      </p:sp>
      <p:sp>
        <p:nvSpPr>
          <p:cNvPr id="16" name="Rounded Rectangle 15"/>
          <p:cNvSpPr/>
          <p:nvPr/>
        </p:nvSpPr>
        <p:spPr>
          <a:xfrm>
            <a:off x="3584448" y="1965960"/>
            <a:ext cx="2057400" cy="411480"/>
          </a:xfrm>
          <a:prstGeom prst="round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3584448" y="2039112"/>
            <a:ext cx="2057400" cy="237744"/>
          </a:xfrm>
          <a:prstGeom prst="rect">
            <a:avLst/>
          </a:prstGeom>
          <a:no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Aptos"/>
              </a:defRPr>
            </a:pPr>
            <a:r>
              <a:rPr kumimoji="0" sz="1000" b="1" i="0" u="none" strike="noStrike" kern="1200" cap="none" spc="0" normalizeH="0" baseline="0" noProof="0">
                <a:ln>
                  <a:noFill/>
                </a:ln>
                <a:solidFill>
                  <a:srgbClr val="FFFFFF"/>
                </a:solidFill>
                <a:effectLst/>
                <a:uLnTx/>
                <a:uFillTx/>
                <a:latin typeface="Aptos"/>
                <a:ea typeface="+mn-ea"/>
                <a:cs typeface="+mn-cs"/>
              </a:rPr>
              <a:t>PRODUCT + PRICE</a:t>
            </a:r>
          </a:p>
        </p:txBody>
      </p:sp>
      <p:sp>
        <p:nvSpPr>
          <p:cNvPr id="18" name="TextBox 17"/>
          <p:cNvSpPr txBox="1"/>
          <p:nvPr/>
        </p:nvSpPr>
        <p:spPr>
          <a:xfrm>
            <a:off x="3520440" y="2626903"/>
            <a:ext cx="2121408" cy="830997"/>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1">
                <a:solidFill>
                  <a:srgbClr val="184669"/>
                </a:solidFill>
                <a:latin typeface="Aptos"/>
              </a:defRPr>
            </a:pPr>
            <a:r>
              <a:rPr kumimoji="0" sz="1200" b="1" i="0" u="none" strike="noStrike" kern="1200" cap="none" spc="0" normalizeH="0" baseline="0" noProof="0" dirty="0">
                <a:ln>
                  <a:noFill/>
                </a:ln>
                <a:solidFill>
                  <a:srgbClr val="184669"/>
                </a:solidFill>
                <a:effectLst/>
                <a:uLnTx/>
                <a:uFillTx/>
                <a:latin typeface="Aptos"/>
                <a:ea typeface="+mn-ea"/>
                <a:cs typeface="+mn-cs"/>
              </a:rPr>
              <a:t>Technology ≈ $836K revenue</a:t>
            </a:r>
            <a:br>
              <a:rPr kumimoji="0" sz="1200" b="1" i="0" u="none" strike="noStrike" kern="1200" cap="none" spc="0" normalizeH="0" baseline="0" noProof="0" dirty="0">
                <a:ln>
                  <a:noFill/>
                </a:ln>
                <a:solidFill>
                  <a:srgbClr val="184669"/>
                </a:solidFill>
                <a:effectLst/>
                <a:uLnTx/>
                <a:uFillTx/>
                <a:latin typeface="Aptos"/>
                <a:ea typeface="+mn-ea"/>
                <a:cs typeface="+mn-cs"/>
              </a:rPr>
            </a:br>
            <a:r>
              <a:rPr kumimoji="0" sz="1200" b="1" i="0" u="none" strike="noStrike" kern="1200" cap="none" spc="0" normalizeH="0" baseline="0" noProof="0" dirty="0">
                <a:ln>
                  <a:noFill/>
                </a:ln>
                <a:solidFill>
                  <a:srgbClr val="184669"/>
                </a:solidFill>
                <a:effectLst/>
                <a:uLnTx/>
                <a:uFillTx/>
                <a:latin typeface="Aptos"/>
                <a:ea typeface="+mn-ea"/>
                <a:cs typeface="+mn-cs"/>
              </a:rPr>
              <a:t>≈ $145K profit</a:t>
            </a:r>
            <a:br>
              <a:rPr kumimoji="0" sz="1200" b="1" i="0" u="none" strike="noStrike" kern="1200" cap="none" spc="0" normalizeH="0" baseline="0" noProof="0" dirty="0">
                <a:ln>
                  <a:noFill/>
                </a:ln>
                <a:solidFill>
                  <a:srgbClr val="184669"/>
                </a:solidFill>
                <a:effectLst/>
                <a:uLnTx/>
                <a:uFillTx/>
                <a:latin typeface="Aptos"/>
                <a:ea typeface="+mn-ea"/>
                <a:cs typeface="+mn-cs"/>
              </a:rPr>
            </a:br>
            <a:r>
              <a:rPr kumimoji="0" sz="1200" b="1" i="0" u="none" strike="noStrike" kern="1200" cap="none" spc="0" normalizeH="0" baseline="0" noProof="0" dirty="0">
                <a:ln>
                  <a:noFill/>
                </a:ln>
                <a:solidFill>
                  <a:srgbClr val="184669"/>
                </a:solidFill>
                <a:effectLst/>
                <a:uLnTx/>
                <a:uFillTx/>
                <a:latin typeface="Aptos"/>
                <a:ea typeface="+mn-ea"/>
                <a:cs typeface="+mn-cs"/>
              </a:rPr>
              <a:t>Furniture ≈ $742K revenue</a:t>
            </a:r>
            <a:br>
              <a:rPr kumimoji="0" sz="1200" b="1" i="0" u="none" strike="noStrike" kern="1200" cap="none" spc="0" normalizeH="0" baseline="0" noProof="0" dirty="0">
                <a:ln>
                  <a:noFill/>
                </a:ln>
                <a:solidFill>
                  <a:srgbClr val="184669"/>
                </a:solidFill>
                <a:effectLst/>
                <a:uLnTx/>
                <a:uFillTx/>
                <a:latin typeface="Aptos"/>
                <a:ea typeface="+mn-ea"/>
                <a:cs typeface="+mn-cs"/>
              </a:rPr>
            </a:br>
            <a:r>
              <a:rPr kumimoji="0" sz="1200" b="1" i="0" u="none" strike="noStrike" kern="1200" cap="none" spc="0" normalizeH="0" baseline="0" noProof="0" dirty="0">
                <a:ln>
                  <a:noFill/>
                </a:ln>
                <a:solidFill>
                  <a:srgbClr val="184669"/>
                </a:solidFill>
                <a:effectLst/>
                <a:uLnTx/>
                <a:uFillTx/>
                <a:latin typeface="Aptos"/>
                <a:ea typeface="+mn-ea"/>
                <a:cs typeface="+mn-cs"/>
              </a:rPr>
              <a:t>but only ≈ $18K profit</a:t>
            </a:r>
          </a:p>
        </p:txBody>
      </p:sp>
      <p:sp>
        <p:nvSpPr>
          <p:cNvPr id="19" name="Rectangle 18"/>
          <p:cNvSpPr/>
          <p:nvPr/>
        </p:nvSpPr>
        <p:spPr>
          <a:xfrm>
            <a:off x="3584448" y="3776472"/>
            <a:ext cx="2057400" cy="10972"/>
          </a:xfrm>
          <a:prstGeom prst="rect">
            <a:avLst/>
          </a:prstGeom>
          <a:solidFill>
            <a:srgbClr val="DEE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3584448" y="3959352"/>
            <a:ext cx="2121408" cy="86868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0">
                <a:solidFill>
                  <a:srgbClr val="2D343A"/>
                </a:solidFill>
                <a:latin typeface="Aptos"/>
              </a:defRPr>
            </a:pPr>
            <a:r>
              <a:rPr kumimoji="0" sz="1050" b="0" i="0" u="none" strike="noStrike" kern="1200" cap="none" spc="0" normalizeH="0" baseline="0" noProof="0">
                <a:ln>
                  <a:noFill/>
                </a:ln>
                <a:solidFill>
                  <a:srgbClr val="2D343A"/>
                </a:solidFill>
                <a:effectLst/>
                <a:uLnTx/>
                <a:uFillTx/>
                <a:latin typeface="Aptos"/>
                <a:ea typeface="+mn-ea"/>
                <a:cs typeface="+mn-cs"/>
              </a:rPr>
              <a:t>Strongest profitability signal; investigate pricing, discount and product mix.</a:t>
            </a:r>
          </a:p>
        </p:txBody>
      </p:sp>
      <p:sp>
        <p:nvSpPr>
          <p:cNvPr id="21" name="Rounded Rectangle 20"/>
          <p:cNvSpPr/>
          <p:nvPr/>
        </p:nvSpPr>
        <p:spPr>
          <a:xfrm>
            <a:off x="6199632" y="1417320"/>
            <a:ext cx="2542032" cy="3794760"/>
          </a:xfrm>
          <a:prstGeom prst="roundRect">
            <a:avLst/>
          </a:prstGeom>
          <a:solidFill>
            <a:srgbClr val="FFFFFF"/>
          </a:solidFill>
          <a:ln w="15240">
            <a:solidFill>
              <a:srgbClr val="D5DF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6199632" y="1417320"/>
            <a:ext cx="73152" cy="3794760"/>
          </a:xfrm>
          <a:prstGeom prst="rect">
            <a:avLst/>
          </a:prstGeom>
          <a:solidFill>
            <a:srgbClr val="1E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6400800" y="1627632"/>
            <a:ext cx="2103120" cy="256032"/>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5C646C"/>
                </a:solidFill>
                <a:latin typeface="Aptos"/>
              </a:defRPr>
            </a:pPr>
            <a:r>
              <a:rPr kumimoji="0" sz="1100" b="1" i="0" u="none" strike="noStrike" kern="1200" cap="none" spc="0" normalizeH="0" baseline="0" noProof="0">
                <a:ln>
                  <a:noFill/>
                </a:ln>
                <a:solidFill>
                  <a:srgbClr val="5C646C"/>
                </a:solidFill>
                <a:effectLst/>
                <a:uLnTx/>
                <a:uFillTx/>
                <a:latin typeface="Aptos"/>
                <a:ea typeface="+mn-ea"/>
                <a:cs typeface="+mn-cs"/>
              </a:rPr>
              <a:t>REGION</a:t>
            </a:r>
          </a:p>
        </p:txBody>
      </p:sp>
      <p:sp>
        <p:nvSpPr>
          <p:cNvPr id="24" name="Rounded Rectangle 23"/>
          <p:cNvSpPr/>
          <p:nvPr/>
        </p:nvSpPr>
        <p:spPr>
          <a:xfrm>
            <a:off x="6400800" y="1965960"/>
            <a:ext cx="2057400" cy="411480"/>
          </a:xfrm>
          <a:prstGeom prst="roundRect">
            <a:avLst/>
          </a:prstGeom>
          <a:solidFill>
            <a:srgbClr val="1E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6400800" y="2039112"/>
            <a:ext cx="2057400" cy="237744"/>
          </a:xfrm>
          <a:prstGeom prst="rect">
            <a:avLst/>
          </a:prstGeom>
          <a:no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Aptos"/>
              </a:defRPr>
            </a:pPr>
            <a:r>
              <a:rPr kumimoji="0" sz="1000" b="1" i="0" u="none" strike="noStrike" kern="1200" cap="none" spc="0" normalizeH="0" baseline="0" noProof="0">
                <a:ln>
                  <a:noFill/>
                </a:ln>
                <a:solidFill>
                  <a:srgbClr val="FFFFFF"/>
                </a:solidFill>
                <a:effectLst/>
                <a:uLnTx/>
                <a:uFillTx/>
                <a:latin typeface="Aptos"/>
                <a:ea typeface="+mn-ea"/>
                <a:cs typeface="+mn-cs"/>
              </a:rPr>
              <a:t>PLACE</a:t>
            </a:r>
          </a:p>
        </p:txBody>
      </p:sp>
      <p:sp>
        <p:nvSpPr>
          <p:cNvPr id="26" name="TextBox 25"/>
          <p:cNvSpPr txBox="1"/>
          <p:nvPr/>
        </p:nvSpPr>
        <p:spPr>
          <a:xfrm>
            <a:off x="6400800" y="2633472"/>
            <a:ext cx="2121408" cy="105156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1">
                <a:solidFill>
                  <a:srgbClr val="184669"/>
                </a:solidFill>
                <a:latin typeface="Aptos"/>
              </a:defRPr>
            </a:pPr>
            <a:r>
              <a:rPr kumimoji="0" sz="1500" b="1" i="0" u="none" strike="noStrike" kern="1200" cap="none" spc="0" normalizeH="0" baseline="0" noProof="0">
                <a:ln>
                  <a:noFill/>
                </a:ln>
                <a:solidFill>
                  <a:srgbClr val="184669"/>
                </a:solidFill>
                <a:effectLst/>
                <a:uLnTx/>
                <a:uFillTx/>
                <a:latin typeface="Aptos"/>
                <a:ea typeface="+mn-ea"/>
                <a:cs typeface="+mn-cs"/>
              </a:rPr>
              <a:t>West ≈ $725K revenue</a:t>
            </a:r>
            <a:br>
              <a:rPr kumimoji="0" sz="1500" b="1" i="0" u="none" strike="noStrike" kern="1200" cap="none" spc="0" normalizeH="0" baseline="0" noProof="0">
                <a:ln>
                  <a:noFill/>
                </a:ln>
                <a:solidFill>
                  <a:srgbClr val="184669"/>
                </a:solidFill>
                <a:effectLst/>
                <a:uLnTx/>
                <a:uFillTx/>
                <a:latin typeface="Aptos"/>
                <a:ea typeface="+mn-ea"/>
                <a:cs typeface="+mn-cs"/>
              </a:rPr>
            </a:br>
            <a:r>
              <a:rPr kumimoji="0" sz="1500" b="1" i="0" u="none" strike="noStrike" kern="1200" cap="none" spc="0" normalizeH="0" baseline="0" noProof="0">
                <a:ln>
                  <a:noFill/>
                </a:ln>
                <a:solidFill>
                  <a:srgbClr val="184669"/>
                </a:solidFill>
                <a:effectLst/>
                <a:uLnTx/>
                <a:uFillTx/>
                <a:latin typeface="Aptos"/>
                <a:ea typeface="+mn-ea"/>
                <a:cs typeface="+mn-cs"/>
              </a:rPr>
              <a:t>East ≈ $679K revenue</a:t>
            </a:r>
          </a:p>
        </p:txBody>
      </p:sp>
      <p:sp>
        <p:nvSpPr>
          <p:cNvPr id="27" name="Rectangle 26"/>
          <p:cNvSpPr/>
          <p:nvPr/>
        </p:nvSpPr>
        <p:spPr>
          <a:xfrm>
            <a:off x="6400800" y="3776472"/>
            <a:ext cx="2057400" cy="10972"/>
          </a:xfrm>
          <a:prstGeom prst="rect">
            <a:avLst/>
          </a:prstGeom>
          <a:solidFill>
            <a:srgbClr val="DEE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400800" y="3959352"/>
            <a:ext cx="2121408" cy="86868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0">
                <a:solidFill>
                  <a:srgbClr val="2D343A"/>
                </a:solidFill>
                <a:latin typeface="Aptos"/>
              </a:defRPr>
            </a:pPr>
            <a:r>
              <a:rPr kumimoji="0" sz="1050" b="0" i="0" u="none" strike="noStrike" kern="1200" cap="none" spc="0" normalizeH="0" baseline="0" noProof="0" dirty="0">
                <a:ln>
                  <a:noFill/>
                </a:ln>
                <a:solidFill>
                  <a:srgbClr val="2D343A"/>
                </a:solidFill>
                <a:effectLst/>
                <a:uLnTx/>
                <a:uFillTx/>
                <a:latin typeface="Aptos"/>
                <a:ea typeface="+mn-ea"/>
                <a:cs typeface="+mn-cs"/>
              </a:rPr>
              <a:t>Shows where geographic revenue contribution is strongest.</a:t>
            </a:r>
          </a:p>
        </p:txBody>
      </p:sp>
      <p:sp>
        <p:nvSpPr>
          <p:cNvPr id="29" name="Rounded Rectangle 28"/>
          <p:cNvSpPr/>
          <p:nvPr/>
        </p:nvSpPr>
        <p:spPr>
          <a:xfrm>
            <a:off x="9015984" y="1417320"/>
            <a:ext cx="2542032" cy="3794760"/>
          </a:xfrm>
          <a:prstGeom prst="roundRect">
            <a:avLst/>
          </a:prstGeom>
          <a:solidFill>
            <a:srgbClr val="FFFFFF"/>
          </a:solidFill>
          <a:ln w="15240">
            <a:solidFill>
              <a:srgbClr val="D5DF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Rectangle 29"/>
          <p:cNvSpPr/>
          <p:nvPr/>
        </p:nvSpPr>
        <p:spPr>
          <a:xfrm>
            <a:off x="9015984" y="1417320"/>
            <a:ext cx="73152" cy="3794760"/>
          </a:xfrm>
          <a:prstGeom prst="rect">
            <a:avLst/>
          </a:prstGeom>
          <a:solidFill>
            <a:srgbClr val="C4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30"/>
          <p:cNvSpPr txBox="1"/>
          <p:nvPr/>
        </p:nvSpPr>
        <p:spPr>
          <a:xfrm>
            <a:off x="9217152" y="1627632"/>
            <a:ext cx="2103120" cy="256032"/>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5C646C"/>
                </a:solidFill>
                <a:latin typeface="Aptos"/>
              </a:defRPr>
            </a:pPr>
            <a:r>
              <a:rPr kumimoji="0" sz="1100" b="1" i="0" u="none" strike="noStrike" kern="1200" cap="none" spc="0" normalizeH="0" baseline="0" noProof="0">
                <a:ln>
                  <a:noFill/>
                </a:ln>
                <a:solidFill>
                  <a:srgbClr val="5C646C"/>
                </a:solidFill>
                <a:effectLst/>
                <a:uLnTx/>
                <a:uFillTx/>
                <a:latin typeface="Aptos"/>
                <a:ea typeface="+mn-ea"/>
                <a:cs typeface="+mn-cs"/>
              </a:rPr>
              <a:t>SHIPPING</a:t>
            </a:r>
          </a:p>
        </p:txBody>
      </p:sp>
      <p:sp>
        <p:nvSpPr>
          <p:cNvPr id="32" name="Rounded Rectangle 31"/>
          <p:cNvSpPr/>
          <p:nvPr/>
        </p:nvSpPr>
        <p:spPr>
          <a:xfrm>
            <a:off x="9217152" y="1965960"/>
            <a:ext cx="2057400" cy="411480"/>
          </a:xfrm>
          <a:prstGeom prst="roundRect">
            <a:avLst/>
          </a:prstGeom>
          <a:solidFill>
            <a:srgbClr val="C4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9217152" y="2039112"/>
            <a:ext cx="2057400" cy="237744"/>
          </a:xfrm>
          <a:prstGeom prst="rect">
            <a:avLst/>
          </a:prstGeom>
          <a:no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Aptos"/>
              </a:defRPr>
            </a:pPr>
            <a:r>
              <a:rPr kumimoji="0" sz="1000" b="1" i="0" u="none" strike="noStrike" kern="1200" cap="none" spc="0" normalizeH="0" baseline="0" noProof="0">
                <a:ln>
                  <a:noFill/>
                </a:ln>
                <a:solidFill>
                  <a:srgbClr val="FFFFFF"/>
                </a:solidFill>
                <a:effectLst/>
                <a:uLnTx/>
                <a:uFillTx/>
                <a:latin typeface="Aptos"/>
                <a:ea typeface="+mn-ea"/>
                <a:cs typeface="+mn-cs"/>
              </a:rPr>
              <a:t>PLACE + PERIOD</a:t>
            </a:r>
          </a:p>
        </p:txBody>
      </p:sp>
      <p:sp>
        <p:nvSpPr>
          <p:cNvPr id="34" name="TextBox 33"/>
          <p:cNvSpPr txBox="1"/>
          <p:nvPr/>
        </p:nvSpPr>
        <p:spPr>
          <a:xfrm>
            <a:off x="9217152" y="2633472"/>
            <a:ext cx="2121408" cy="105156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1">
                <a:solidFill>
                  <a:srgbClr val="184669"/>
                </a:solidFill>
                <a:latin typeface="Aptos"/>
              </a:defRPr>
            </a:pPr>
            <a:r>
              <a:rPr kumimoji="0" sz="1500" b="1" i="0" u="none" strike="noStrike" kern="1200" cap="none" spc="0" normalizeH="0" baseline="0" noProof="0">
                <a:ln>
                  <a:noFill/>
                </a:ln>
                <a:solidFill>
                  <a:srgbClr val="184669"/>
                </a:solidFill>
                <a:effectLst/>
                <a:uLnTx/>
                <a:uFillTx/>
                <a:latin typeface="Aptos"/>
                <a:ea typeface="+mn-ea"/>
                <a:cs typeface="+mn-cs"/>
              </a:rPr>
              <a:t>Central ≈ 4.06 days</a:t>
            </a:r>
            <a:br>
              <a:rPr kumimoji="0" sz="1500" b="1" i="0" u="none" strike="noStrike" kern="1200" cap="none" spc="0" normalizeH="0" baseline="0" noProof="0">
                <a:ln>
                  <a:noFill/>
                </a:ln>
                <a:solidFill>
                  <a:srgbClr val="184669"/>
                </a:solidFill>
                <a:effectLst/>
                <a:uLnTx/>
                <a:uFillTx/>
                <a:latin typeface="Aptos"/>
                <a:ea typeface="+mn-ea"/>
                <a:cs typeface="+mn-cs"/>
              </a:rPr>
            </a:br>
            <a:r>
              <a:rPr kumimoji="0" sz="1500" b="1" i="0" u="none" strike="noStrike" kern="1200" cap="none" spc="0" normalizeH="0" baseline="0" noProof="0">
                <a:ln>
                  <a:noFill/>
                </a:ln>
                <a:solidFill>
                  <a:srgbClr val="184669"/>
                </a:solidFill>
                <a:effectLst/>
                <a:uLnTx/>
                <a:uFillTx/>
                <a:latin typeface="Aptos"/>
                <a:ea typeface="+mn-ea"/>
                <a:cs typeface="+mn-cs"/>
              </a:rPr>
              <a:t>Other regions ≈ 3.91–3.96 days</a:t>
            </a:r>
          </a:p>
        </p:txBody>
      </p:sp>
      <p:sp>
        <p:nvSpPr>
          <p:cNvPr id="35" name="Rectangle 34"/>
          <p:cNvSpPr/>
          <p:nvPr/>
        </p:nvSpPr>
        <p:spPr>
          <a:xfrm>
            <a:off x="9217152" y="3776472"/>
            <a:ext cx="2057400" cy="10972"/>
          </a:xfrm>
          <a:prstGeom prst="rect">
            <a:avLst/>
          </a:prstGeom>
          <a:solidFill>
            <a:srgbClr val="DEE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TextBox 35"/>
          <p:cNvSpPr txBox="1"/>
          <p:nvPr/>
        </p:nvSpPr>
        <p:spPr>
          <a:xfrm>
            <a:off x="9217152" y="3959352"/>
            <a:ext cx="2121408" cy="86868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0">
                <a:solidFill>
                  <a:srgbClr val="2D343A"/>
                </a:solidFill>
                <a:latin typeface="Aptos"/>
              </a:defRPr>
            </a:pPr>
            <a:r>
              <a:rPr kumimoji="0" sz="1050" b="0" i="0" u="none" strike="noStrike" kern="1200" cap="none" spc="0" normalizeH="0" baseline="0" noProof="0">
                <a:ln>
                  <a:noFill/>
                </a:ln>
                <a:solidFill>
                  <a:srgbClr val="2D343A"/>
                </a:solidFill>
                <a:effectLst/>
                <a:uLnTx/>
                <a:uFillTx/>
                <a:latin typeface="Aptos"/>
                <a:ea typeface="+mn-ea"/>
                <a:cs typeface="+mn-cs"/>
              </a:rPr>
              <a:t>Regional spread is small; test whether shipping varies by location and period.</a:t>
            </a:r>
          </a:p>
        </p:txBody>
      </p:sp>
      <p:sp>
        <p:nvSpPr>
          <p:cNvPr id="37" name="Rounded Rectangle 36"/>
          <p:cNvSpPr/>
          <p:nvPr/>
        </p:nvSpPr>
        <p:spPr>
          <a:xfrm>
            <a:off x="566928" y="5468112"/>
            <a:ext cx="10991088" cy="804672"/>
          </a:xfrm>
          <a:prstGeom prst="roundRect">
            <a:avLst/>
          </a:prstGeom>
          <a:solidFill>
            <a:srgbClr val="F4F7F9"/>
          </a:solidFill>
          <a:ln>
            <a:solidFill>
              <a:srgbClr val="D7E0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TextBox 37"/>
          <p:cNvSpPr txBox="1"/>
          <p:nvPr/>
        </p:nvSpPr>
        <p:spPr>
          <a:xfrm>
            <a:off x="749808" y="5577840"/>
            <a:ext cx="1828800" cy="228600"/>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1">
                <a:solidFill>
                  <a:srgbClr val="256699"/>
                </a:solidFill>
                <a:latin typeface="Aptos"/>
              </a:defRPr>
            </a:pPr>
            <a:r>
              <a:rPr kumimoji="0" sz="1050" b="1" i="0" u="none" strike="noStrike" kern="1200" cap="none" spc="0" normalizeH="0" baseline="0" noProof="0">
                <a:ln>
                  <a:noFill/>
                </a:ln>
                <a:solidFill>
                  <a:srgbClr val="256699"/>
                </a:solidFill>
                <a:effectLst/>
                <a:uLnTx/>
                <a:uFillTx/>
                <a:latin typeface="Aptos"/>
                <a:ea typeface="+mn-ea"/>
                <a:cs typeface="+mn-cs"/>
              </a:rPr>
              <a:t>MANAGEMENT IMPLICATION</a:t>
            </a:r>
          </a:p>
        </p:txBody>
      </p:sp>
      <p:sp>
        <p:nvSpPr>
          <p:cNvPr id="39" name="TextBox 38"/>
          <p:cNvSpPr txBox="1"/>
          <p:nvPr/>
        </p:nvSpPr>
        <p:spPr>
          <a:xfrm>
            <a:off x="2514600" y="5550408"/>
            <a:ext cx="8732520" cy="530352"/>
          </a:xfrm>
          <a:prstGeom prst="rect">
            <a:avLst/>
          </a:prstGeom>
          <a:noFill/>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1">
                <a:solidFill>
                  <a:srgbClr val="184669"/>
                </a:solidFill>
                <a:latin typeface="Aptos"/>
              </a:defRPr>
            </a:pPr>
            <a:r>
              <a:rPr kumimoji="0" sz="1120" b="1" i="0" u="none" strike="noStrike" kern="1200" cap="none" spc="0" normalizeH="0" baseline="0" noProof="0">
                <a:ln>
                  <a:noFill/>
                </a:ln>
                <a:solidFill>
                  <a:srgbClr val="184669"/>
                </a:solidFill>
                <a:effectLst/>
                <a:uLnTx/>
                <a:uFillTx/>
                <a:latin typeface="Aptos"/>
                <a:ea typeface="+mn-ea"/>
                <a:cs typeface="+mn-cs"/>
              </a:rPr>
              <a:t>Furniture profitability is the clearest immediate concern. Customer mix, regional contribution and shipping performance provide additional 6P diagnostic dimensions for targeted follow-up analysis.</a:t>
            </a:r>
          </a:p>
        </p:txBody>
      </p:sp>
      <p:sp>
        <p:nvSpPr>
          <p:cNvPr id="40" name="Rectangle 39"/>
          <p:cNvSpPr/>
          <p:nvPr/>
        </p:nvSpPr>
        <p:spPr>
          <a:xfrm>
            <a:off x="566928" y="6492240"/>
            <a:ext cx="10972800" cy="10972"/>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TextBox 40"/>
          <p:cNvSpPr txBox="1"/>
          <p:nvPr/>
        </p:nvSpPr>
        <p:spPr>
          <a:xfrm>
            <a:off x="10835640" y="6519672"/>
            <a:ext cx="594360" cy="182880"/>
          </a:xfrm>
          <a:prstGeom prst="rect">
            <a:avLst/>
          </a:prstGeom>
          <a:noFill/>
        </p:spPr>
        <p:txBody>
          <a:bodyPr wrap="square"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sz="850" b="0">
                <a:solidFill>
                  <a:srgbClr val="5C646C"/>
                </a:solidFill>
                <a:latin typeface="Aptos"/>
              </a:defRPr>
            </a:pPr>
            <a:r>
              <a:rPr kumimoji="0" sz="850" b="0" i="0" u="none" strike="noStrike" kern="1200" cap="none" spc="0" normalizeH="0" baseline="0" noProof="0">
                <a:ln>
                  <a:noFill/>
                </a:ln>
                <a:solidFill>
                  <a:srgbClr val="5C646C"/>
                </a:solidFill>
                <a:effectLst/>
                <a:uLnTx/>
                <a:uFillTx/>
                <a:latin typeface="Aptos"/>
                <a:ea typeface="+mn-ea"/>
                <a:cs typeface="+mn-cs"/>
              </a:rPr>
              <a:t>06</a:t>
            </a:r>
          </a:p>
        </p:txBody>
      </p:sp>
    </p:spTree>
  </p:cSld>
  <p:clrMapOvr>
    <a:masterClrMapping/>
  </p:clrMapOvr>
  <mc:AlternateContent xmlns:mc="http://schemas.openxmlformats.org/markup-compatibility/2006" xmlns:p14="http://schemas.microsoft.com/office/powerpoint/2010/main">
    <mc:Choice Requires="p14">
      <p:transition spd="slow" p14:dur="2000" advTm="164667"/>
    </mc:Choice>
    <mc:Fallback xmlns="">
      <p:transition spd="slow" advTm="16466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Business Risks, Root-Cause Hypotheses &amp; Diagnostic Analysis</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Explicitly separate what the data proves from what management should investigate.</a:t>
            </a:r>
          </a:p>
        </p:txBody>
      </p:sp>
      <p:sp>
        <p:nvSpPr>
          <p:cNvPr id="5" name="Rectangle 4"/>
          <p:cNvSpPr/>
          <p:nvPr/>
        </p:nvSpPr>
        <p:spPr>
          <a:xfrm>
            <a:off x="502920" y="1280160"/>
            <a:ext cx="2331720" cy="50292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371600"/>
            <a:ext cx="2331720" cy="256032"/>
          </a:xfrm>
          <a:prstGeom prst="rect">
            <a:avLst/>
          </a:prstGeom>
          <a:noFill/>
        </p:spPr>
        <p:txBody>
          <a:bodyPr wrap="square" anchor="t">
            <a:spAutoFit/>
          </a:bodyPr>
          <a:lstStyle/>
          <a:p>
            <a:pPr algn="ctr">
              <a:defRPr sz="1050" b="1">
                <a:solidFill>
                  <a:srgbClr val="FFFFFF"/>
                </a:solidFill>
                <a:latin typeface="Aptos"/>
              </a:defRPr>
            </a:pPr>
            <a:r>
              <a:t>EVIDENCE</a:t>
            </a:r>
          </a:p>
        </p:txBody>
      </p:sp>
      <p:sp>
        <p:nvSpPr>
          <p:cNvPr id="7" name="Rectangle 6"/>
          <p:cNvSpPr/>
          <p:nvPr/>
        </p:nvSpPr>
        <p:spPr>
          <a:xfrm>
            <a:off x="2971800" y="1280160"/>
            <a:ext cx="2514600" cy="50292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71800" y="1371600"/>
            <a:ext cx="2514600" cy="256032"/>
          </a:xfrm>
          <a:prstGeom prst="rect">
            <a:avLst/>
          </a:prstGeom>
          <a:noFill/>
        </p:spPr>
        <p:txBody>
          <a:bodyPr wrap="square" anchor="t">
            <a:spAutoFit/>
          </a:bodyPr>
          <a:lstStyle/>
          <a:p>
            <a:pPr algn="ctr">
              <a:defRPr sz="1050" b="1">
                <a:solidFill>
                  <a:srgbClr val="FFFFFF"/>
                </a:solidFill>
                <a:latin typeface="Aptos"/>
              </a:defRPr>
            </a:pPr>
            <a:r>
              <a:t>BUSINESS RISK</a:t>
            </a:r>
          </a:p>
        </p:txBody>
      </p:sp>
      <p:sp>
        <p:nvSpPr>
          <p:cNvPr id="9" name="Rectangle 8"/>
          <p:cNvSpPr/>
          <p:nvPr/>
        </p:nvSpPr>
        <p:spPr>
          <a:xfrm>
            <a:off x="5623560" y="1280160"/>
            <a:ext cx="2651760" cy="50292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23560" y="1371600"/>
            <a:ext cx="2651760" cy="256032"/>
          </a:xfrm>
          <a:prstGeom prst="rect">
            <a:avLst/>
          </a:prstGeom>
          <a:noFill/>
        </p:spPr>
        <p:txBody>
          <a:bodyPr wrap="square" anchor="t">
            <a:spAutoFit/>
          </a:bodyPr>
          <a:lstStyle/>
          <a:p>
            <a:pPr algn="ctr">
              <a:defRPr sz="1050" b="1">
                <a:solidFill>
                  <a:srgbClr val="FFFFFF"/>
                </a:solidFill>
                <a:latin typeface="Aptos"/>
              </a:defRPr>
            </a:pPr>
            <a:r>
              <a:rPr dirty="0"/>
              <a:t>ROOT-CAUSE HYPOTHESIS</a:t>
            </a:r>
          </a:p>
        </p:txBody>
      </p:sp>
      <p:sp>
        <p:nvSpPr>
          <p:cNvPr id="11" name="Rectangle 10"/>
          <p:cNvSpPr/>
          <p:nvPr/>
        </p:nvSpPr>
        <p:spPr>
          <a:xfrm>
            <a:off x="8412480" y="1280160"/>
            <a:ext cx="3246120" cy="50292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371600"/>
            <a:ext cx="3246120" cy="256032"/>
          </a:xfrm>
          <a:prstGeom prst="rect">
            <a:avLst/>
          </a:prstGeom>
          <a:noFill/>
        </p:spPr>
        <p:txBody>
          <a:bodyPr wrap="square" anchor="t">
            <a:spAutoFit/>
          </a:bodyPr>
          <a:lstStyle/>
          <a:p>
            <a:pPr algn="ctr">
              <a:defRPr sz="1050" b="1">
                <a:solidFill>
                  <a:srgbClr val="FFFFFF"/>
                </a:solidFill>
                <a:latin typeface="Aptos"/>
              </a:defRPr>
            </a:pPr>
            <a:r>
              <a:t>DIAGNOSTIC ACTION</a:t>
            </a:r>
          </a:p>
        </p:txBody>
      </p:sp>
      <p:sp>
        <p:nvSpPr>
          <p:cNvPr id="13" name="Rectangle 12"/>
          <p:cNvSpPr/>
          <p:nvPr/>
        </p:nvSpPr>
        <p:spPr>
          <a:xfrm>
            <a:off x="502920" y="1874519"/>
            <a:ext cx="233172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72" y="1947672"/>
            <a:ext cx="2185415" cy="768096"/>
          </a:xfrm>
          <a:prstGeom prst="rect">
            <a:avLst/>
          </a:prstGeom>
          <a:noFill/>
        </p:spPr>
        <p:txBody>
          <a:bodyPr wrap="square" anchor="t">
            <a:spAutoFit/>
          </a:bodyPr>
          <a:lstStyle/>
          <a:p>
            <a:pPr algn="l">
              <a:defRPr sz="1050" b="0">
                <a:solidFill>
                  <a:srgbClr val="2D343A"/>
                </a:solidFill>
                <a:latin typeface="Aptos"/>
              </a:defRPr>
            </a:pPr>
            <a:r>
              <a:t>Furniture: ~$742K revenue / ~$18K profit</a:t>
            </a:r>
          </a:p>
        </p:txBody>
      </p:sp>
      <p:sp>
        <p:nvSpPr>
          <p:cNvPr id="15" name="Rectangle 14"/>
          <p:cNvSpPr/>
          <p:nvPr/>
        </p:nvSpPr>
        <p:spPr>
          <a:xfrm>
            <a:off x="2971800" y="1874519"/>
            <a:ext cx="251460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44952" y="1947672"/>
            <a:ext cx="2368296" cy="768096"/>
          </a:xfrm>
          <a:prstGeom prst="rect">
            <a:avLst/>
          </a:prstGeom>
          <a:noFill/>
        </p:spPr>
        <p:txBody>
          <a:bodyPr wrap="square" anchor="t">
            <a:spAutoFit/>
          </a:bodyPr>
          <a:lstStyle/>
          <a:p>
            <a:pPr algn="l">
              <a:defRPr sz="1050" b="0">
                <a:solidFill>
                  <a:srgbClr val="2D343A"/>
                </a:solidFill>
                <a:latin typeface="Aptos"/>
              </a:defRPr>
            </a:pPr>
            <a:r>
              <a:rPr dirty="0"/>
              <a:t>Margin erosion despite strong sales</a:t>
            </a:r>
          </a:p>
        </p:txBody>
      </p:sp>
      <p:sp>
        <p:nvSpPr>
          <p:cNvPr id="17" name="Rectangle 16"/>
          <p:cNvSpPr/>
          <p:nvPr/>
        </p:nvSpPr>
        <p:spPr>
          <a:xfrm>
            <a:off x="5623560" y="1874519"/>
            <a:ext cx="265176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96712" y="1947672"/>
            <a:ext cx="2505456" cy="768096"/>
          </a:xfrm>
          <a:prstGeom prst="rect">
            <a:avLst/>
          </a:prstGeom>
          <a:noFill/>
        </p:spPr>
        <p:txBody>
          <a:bodyPr wrap="square" anchor="t">
            <a:spAutoFit/>
          </a:bodyPr>
          <a:lstStyle/>
          <a:p>
            <a:pPr algn="l">
              <a:defRPr sz="1050" b="0">
                <a:solidFill>
                  <a:srgbClr val="2D343A"/>
                </a:solidFill>
                <a:latin typeface="Aptos"/>
              </a:defRPr>
            </a:pPr>
            <a:r>
              <a:t>Discounting, product mix, cost-to-serve or pricing</a:t>
            </a:r>
          </a:p>
        </p:txBody>
      </p:sp>
      <p:sp>
        <p:nvSpPr>
          <p:cNvPr id="19" name="Rectangle 18"/>
          <p:cNvSpPr/>
          <p:nvPr/>
        </p:nvSpPr>
        <p:spPr>
          <a:xfrm>
            <a:off x="8412480" y="1874519"/>
            <a:ext cx="324612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85632" y="1947672"/>
            <a:ext cx="3099815" cy="768096"/>
          </a:xfrm>
          <a:prstGeom prst="rect">
            <a:avLst/>
          </a:prstGeom>
          <a:noFill/>
        </p:spPr>
        <p:txBody>
          <a:bodyPr wrap="square" anchor="t">
            <a:spAutoFit/>
          </a:bodyPr>
          <a:lstStyle/>
          <a:p>
            <a:pPr algn="l">
              <a:defRPr sz="1050" b="0">
                <a:solidFill>
                  <a:srgbClr val="2D343A"/>
                </a:solidFill>
                <a:latin typeface="Aptos"/>
              </a:defRPr>
            </a:pPr>
            <a:r>
              <a:t>Analyze margin by subcategory/SKU, discount, customer and region</a:t>
            </a:r>
          </a:p>
        </p:txBody>
      </p:sp>
      <p:sp>
        <p:nvSpPr>
          <p:cNvPr id="21" name="Rectangle 20"/>
          <p:cNvSpPr/>
          <p:nvPr/>
        </p:nvSpPr>
        <p:spPr>
          <a:xfrm>
            <a:off x="502920" y="2898648"/>
            <a:ext cx="233172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6072" y="2971800"/>
            <a:ext cx="2185415" cy="768096"/>
          </a:xfrm>
          <a:prstGeom prst="rect">
            <a:avLst/>
          </a:prstGeom>
          <a:noFill/>
        </p:spPr>
        <p:txBody>
          <a:bodyPr wrap="square" anchor="t">
            <a:spAutoFit/>
          </a:bodyPr>
          <a:lstStyle/>
          <a:p>
            <a:pPr algn="l">
              <a:defRPr sz="1050" b="0">
                <a:solidFill>
                  <a:srgbClr val="2D343A"/>
                </a:solidFill>
                <a:latin typeface="Aptos"/>
              </a:defRPr>
            </a:pPr>
            <a:r>
              <a:rPr dirty="0"/>
              <a:t>Monthly revenue is volatile</a:t>
            </a:r>
          </a:p>
        </p:txBody>
      </p:sp>
      <p:sp>
        <p:nvSpPr>
          <p:cNvPr id="23" name="Rectangle 22"/>
          <p:cNvSpPr/>
          <p:nvPr/>
        </p:nvSpPr>
        <p:spPr>
          <a:xfrm>
            <a:off x="2971800" y="2898648"/>
            <a:ext cx="251460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44952" y="2971800"/>
            <a:ext cx="2368296" cy="768096"/>
          </a:xfrm>
          <a:prstGeom prst="rect">
            <a:avLst/>
          </a:prstGeom>
          <a:noFill/>
        </p:spPr>
        <p:txBody>
          <a:bodyPr wrap="square" anchor="t">
            <a:spAutoFit/>
          </a:bodyPr>
          <a:lstStyle/>
          <a:p>
            <a:pPr algn="l">
              <a:defRPr sz="1050" b="0">
                <a:solidFill>
                  <a:srgbClr val="2D343A"/>
                </a:solidFill>
                <a:latin typeface="Aptos"/>
              </a:defRPr>
            </a:pPr>
            <a:r>
              <a:t>Resource and planning instability</a:t>
            </a:r>
          </a:p>
        </p:txBody>
      </p:sp>
      <p:sp>
        <p:nvSpPr>
          <p:cNvPr id="25" name="Rectangle 24"/>
          <p:cNvSpPr/>
          <p:nvPr/>
        </p:nvSpPr>
        <p:spPr>
          <a:xfrm>
            <a:off x="5623560" y="2898648"/>
            <a:ext cx="265176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96712" y="2971800"/>
            <a:ext cx="2505456" cy="768096"/>
          </a:xfrm>
          <a:prstGeom prst="rect">
            <a:avLst/>
          </a:prstGeom>
          <a:noFill/>
        </p:spPr>
        <p:txBody>
          <a:bodyPr wrap="square" anchor="t">
            <a:spAutoFit/>
          </a:bodyPr>
          <a:lstStyle/>
          <a:p>
            <a:pPr algn="l">
              <a:defRPr sz="1050" b="0">
                <a:solidFill>
                  <a:srgbClr val="2D343A"/>
                </a:solidFill>
                <a:latin typeface="Aptos"/>
              </a:defRPr>
            </a:pPr>
            <a:r>
              <a:rPr dirty="0"/>
              <a:t>Seasonality, large orders or concentration</a:t>
            </a:r>
          </a:p>
        </p:txBody>
      </p:sp>
      <p:sp>
        <p:nvSpPr>
          <p:cNvPr id="27" name="Rectangle 26"/>
          <p:cNvSpPr/>
          <p:nvPr/>
        </p:nvSpPr>
        <p:spPr>
          <a:xfrm>
            <a:off x="8412480" y="2898648"/>
            <a:ext cx="324612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85632" y="2971800"/>
            <a:ext cx="3099815" cy="768096"/>
          </a:xfrm>
          <a:prstGeom prst="rect">
            <a:avLst/>
          </a:prstGeom>
          <a:noFill/>
        </p:spPr>
        <p:txBody>
          <a:bodyPr wrap="square" anchor="t">
            <a:spAutoFit/>
          </a:bodyPr>
          <a:lstStyle/>
          <a:p>
            <a:pPr algn="l">
              <a:defRPr sz="1050" b="0">
                <a:solidFill>
                  <a:srgbClr val="2D343A"/>
                </a:solidFill>
                <a:latin typeface="Aptos"/>
              </a:defRPr>
            </a:pPr>
            <a:r>
              <a:rPr dirty="0"/>
              <a:t>Decompose variance by period, account, category and region</a:t>
            </a:r>
          </a:p>
        </p:txBody>
      </p:sp>
      <p:sp>
        <p:nvSpPr>
          <p:cNvPr id="29" name="Rectangle 28"/>
          <p:cNvSpPr/>
          <p:nvPr/>
        </p:nvSpPr>
        <p:spPr>
          <a:xfrm>
            <a:off x="502920" y="3922776"/>
            <a:ext cx="233172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6072" y="3995928"/>
            <a:ext cx="2185415" cy="768096"/>
          </a:xfrm>
          <a:prstGeom prst="rect">
            <a:avLst/>
          </a:prstGeom>
          <a:noFill/>
        </p:spPr>
        <p:txBody>
          <a:bodyPr wrap="square" anchor="t">
            <a:spAutoFit/>
          </a:bodyPr>
          <a:lstStyle/>
          <a:p>
            <a:pPr algn="l">
              <a:defRPr sz="1050" b="0">
                <a:solidFill>
                  <a:srgbClr val="2D343A"/>
                </a:solidFill>
                <a:latin typeface="Aptos"/>
              </a:defRPr>
            </a:pPr>
            <a:r>
              <a:t>Central: ~4.06 shipping days</a:t>
            </a:r>
          </a:p>
        </p:txBody>
      </p:sp>
      <p:sp>
        <p:nvSpPr>
          <p:cNvPr id="31" name="Rectangle 30"/>
          <p:cNvSpPr/>
          <p:nvPr/>
        </p:nvSpPr>
        <p:spPr>
          <a:xfrm>
            <a:off x="2971800" y="3922776"/>
            <a:ext cx="251460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044952" y="3995928"/>
            <a:ext cx="2368296" cy="768096"/>
          </a:xfrm>
          <a:prstGeom prst="rect">
            <a:avLst/>
          </a:prstGeom>
          <a:noFill/>
        </p:spPr>
        <p:txBody>
          <a:bodyPr wrap="square" anchor="t">
            <a:spAutoFit/>
          </a:bodyPr>
          <a:lstStyle/>
          <a:p>
            <a:pPr algn="l">
              <a:defRPr sz="1050" b="0">
                <a:solidFill>
                  <a:srgbClr val="2D343A"/>
                </a:solidFill>
                <a:latin typeface="Aptos"/>
              </a:defRPr>
            </a:pPr>
            <a:r>
              <a:rPr dirty="0"/>
              <a:t>Potential fulfillment friction</a:t>
            </a:r>
          </a:p>
        </p:txBody>
      </p:sp>
      <p:sp>
        <p:nvSpPr>
          <p:cNvPr id="33" name="Rectangle 32"/>
          <p:cNvSpPr/>
          <p:nvPr/>
        </p:nvSpPr>
        <p:spPr>
          <a:xfrm>
            <a:off x="5623560" y="3922776"/>
            <a:ext cx="265176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696712" y="3995928"/>
            <a:ext cx="2505456" cy="768096"/>
          </a:xfrm>
          <a:prstGeom prst="rect">
            <a:avLst/>
          </a:prstGeom>
          <a:noFill/>
        </p:spPr>
        <p:txBody>
          <a:bodyPr wrap="square" anchor="t">
            <a:spAutoFit/>
          </a:bodyPr>
          <a:lstStyle/>
          <a:p>
            <a:pPr algn="l">
              <a:defRPr sz="1050" b="0">
                <a:solidFill>
                  <a:srgbClr val="2D343A"/>
                </a:solidFill>
                <a:latin typeface="Aptos"/>
              </a:defRPr>
            </a:pPr>
            <a:r>
              <a:rPr dirty="0"/>
              <a:t>Mode mix, distance, product mix or carrier effects</a:t>
            </a:r>
          </a:p>
        </p:txBody>
      </p:sp>
      <p:sp>
        <p:nvSpPr>
          <p:cNvPr id="35" name="Rectangle 34"/>
          <p:cNvSpPr/>
          <p:nvPr/>
        </p:nvSpPr>
        <p:spPr>
          <a:xfrm>
            <a:off x="8412480" y="3922776"/>
            <a:ext cx="3246120" cy="914400"/>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85632" y="3995928"/>
            <a:ext cx="3099815" cy="768096"/>
          </a:xfrm>
          <a:prstGeom prst="rect">
            <a:avLst/>
          </a:prstGeom>
          <a:noFill/>
        </p:spPr>
        <p:txBody>
          <a:bodyPr wrap="square" anchor="t">
            <a:spAutoFit/>
          </a:bodyPr>
          <a:lstStyle/>
          <a:p>
            <a:pPr algn="l">
              <a:defRPr sz="1050" b="0">
                <a:solidFill>
                  <a:srgbClr val="2D343A"/>
                </a:solidFill>
                <a:latin typeface="Aptos"/>
              </a:defRPr>
            </a:pPr>
            <a:r>
              <a:t>Compare shipping by region × period × category × ship mode</a:t>
            </a:r>
          </a:p>
        </p:txBody>
      </p:sp>
      <p:sp>
        <p:nvSpPr>
          <p:cNvPr id="37" name="Rectangle 36"/>
          <p:cNvSpPr/>
          <p:nvPr/>
        </p:nvSpPr>
        <p:spPr>
          <a:xfrm>
            <a:off x="502920" y="4946904"/>
            <a:ext cx="233172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6072" y="5020056"/>
            <a:ext cx="2185415" cy="768096"/>
          </a:xfrm>
          <a:prstGeom prst="rect">
            <a:avLst/>
          </a:prstGeom>
          <a:noFill/>
        </p:spPr>
        <p:txBody>
          <a:bodyPr wrap="square" anchor="t">
            <a:spAutoFit/>
          </a:bodyPr>
          <a:lstStyle/>
          <a:p>
            <a:pPr algn="l">
              <a:defRPr sz="1050" b="0">
                <a:solidFill>
                  <a:srgbClr val="2D343A"/>
                </a:solidFill>
                <a:latin typeface="Aptos"/>
              </a:defRPr>
            </a:pPr>
            <a:r>
              <a:t>Backtest MAPE: 47.99%</a:t>
            </a:r>
          </a:p>
        </p:txBody>
      </p:sp>
      <p:sp>
        <p:nvSpPr>
          <p:cNvPr id="39" name="Rectangle 38"/>
          <p:cNvSpPr/>
          <p:nvPr/>
        </p:nvSpPr>
        <p:spPr>
          <a:xfrm>
            <a:off x="2971800" y="4946904"/>
            <a:ext cx="251460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044952" y="5020056"/>
            <a:ext cx="2368296" cy="768096"/>
          </a:xfrm>
          <a:prstGeom prst="rect">
            <a:avLst/>
          </a:prstGeom>
          <a:noFill/>
        </p:spPr>
        <p:txBody>
          <a:bodyPr wrap="square" anchor="t">
            <a:spAutoFit/>
          </a:bodyPr>
          <a:lstStyle/>
          <a:p>
            <a:pPr algn="l">
              <a:defRPr sz="1050" b="0">
                <a:solidFill>
                  <a:srgbClr val="2D343A"/>
                </a:solidFill>
                <a:latin typeface="Aptos"/>
              </a:defRPr>
            </a:pPr>
            <a:r>
              <a:t>Forecast-driven decisions may be inaccurate</a:t>
            </a:r>
          </a:p>
        </p:txBody>
      </p:sp>
      <p:sp>
        <p:nvSpPr>
          <p:cNvPr id="41" name="Rectangle 40"/>
          <p:cNvSpPr/>
          <p:nvPr/>
        </p:nvSpPr>
        <p:spPr>
          <a:xfrm>
            <a:off x="5623560" y="4946904"/>
            <a:ext cx="265176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696712" y="5020056"/>
            <a:ext cx="2505456" cy="768096"/>
          </a:xfrm>
          <a:prstGeom prst="rect">
            <a:avLst/>
          </a:prstGeom>
          <a:noFill/>
        </p:spPr>
        <p:txBody>
          <a:bodyPr wrap="square" anchor="t">
            <a:spAutoFit/>
          </a:bodyPr>
          <a:lstStyle/>
          <a:p>
            <a:pPr algn="l">
              <a:defRPr sz="1050" b="0">
                <a:solidFill>
                  <a:srgbClr val="2D343A"/>
                </a:solidFill>
                <a:latin typeface="Aptos"/>
              </a:defRPr>
            </a:pPr>
            <a:r>
              <a:rPr dirty="0"/>
              <a:t>Limited history, volatility, outliers or ETS limitations</a:t>
            </a:r>
          </a:p>
        </p:txBody>
      </p:sp>
      <p:sp>
        <p:nvSpPr>
          <p:cNvPr id="43" name="Rectangle 42"/>
          <p:cNvSpPr/>
          <p:nvPr/>
        </p:nvSpPr>
        <p:spPr>
          <a:xfrm>
            <a:off x="8412480" y="4946904"/>
            <a:ext cx="3246120" cy="914400"/>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85632" y="5020056"/>
            <a:ext cx="3099815" cy="768096"/>
          </a:xfrm>
          <a:prstGeom prst="rect">
            <a:avLst/>
          </a:prstGeom>
          <a:noFill/>
        </p:spPr>
        <p:txBody>
          <a:bodyPr wrap="square" anchor="t">
            <a:spAutoFit/>
          </a:bodyPr>
          <a:lstStyle/>
          <a:p>
            <a:pPr algn="l">
              <a:defRPr sz="1050" b="0">
                <a:solidFill>
                  <a:srgbClr val="2D343A"/>
                </a:solidFill>
                <a:latin typeface="Aptos"/>
              </a:defRPr>
            </a:pPr>
            <a:r>
              <a:rPr dirty="0"/>
              <a:t>Compare models, extend history, monitor error and bias</a:t>
            </a:r>
          </a:p>
        </p:txBody>
      </p:sp>
      <p:sp>
        <p:nvSpPr>
          <p:cNvPr id="45" name="TextBox 44"/>
          <p:cNvSpPr txBox="1"/>
          <p:nvPr/>
        </p:nvSpPr>
        <p:spPr>
          <a:xfrm>
            <a:off x="594360" y="6053328"/>
            <a:ext cx="10972800" cy="274320"/>
          </a:xfrm>
          <a:prstGeom prst="rect">
            <a:avLst/>
          </a:prstGeom>
          <a:noFill/>
        </p:spPr>
        <p:txBody>
          <a:bodyPr wrap="square" anchor="t">
            <a:spAutoFit/>
          </a:bodyPr>
          <a:lstStyle/>
          <a:p>
            <a:pPr algn="l">
              <a:defRPr sz="1200" b="1">
                <a:solidFill>
                  <a:srgbClr val="EF702E"/>
                </a:solidFill>
                <a:latin typeface="Aptos"/>
              </a:defRPr>
            </a:pPr>
            <a:r>
              <a:t>Evidence establishes the performance gap; hypotheses guide the next analysis—they are not presented as proven causes.</a:t>
            </a:r>
          </a:p>
        </p:txBody>
      </p:sp>
      <p:sp>
        <p:nvSpPr>
          <p:cNvPr id="46" name="Rectangle 45"/>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07</a:t>
            </a:r>
          </a:p>
        </p:txBody>
      </p:sp>
    </p:spTree>
  </p:cSld>
  <p:clrMapOvr>
    <a:masterClrMapping/>
  </p:clrMapOvr>
  <mc:AlternateContent xmlns:mc="http://schemas.openxmlformats.org/markup-compatibility/2006" xmlns:p14="http://schemas.microsoft.com/office/powerpoint/2010/main">
    <mc:Choice Requires="p14">
      <p:transition spd="slow" p14:dur="2000" advTm="144454"/>
    </mc:Choice>
    <mc:Fallback xmlns="">
      <p:transition spd="slow" advTm="14445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2023 Forecasting Analysis</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FORECAST.ETS converts historical monthly revenue into a directional planning outlook.</a:t>
            </a:r>
          </a:p>
        </p:txBody>
      </p:sp>
      <p:sp>
        <p:nvSpPr>
          <p:cNvPr id="6" name="Rounded Rectangle 5"/>
          <p:cNvSpPr/>
          <p:nvPr/>
        </p:nvSpPr>
        <p:spPr>
          <a:xfrm>
            <a:off x="8366760" y="1417320"/>
            <a:ext cx="3154680" cy="10515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366760" y="1417320"/>
            <a:ext cx="73152" cy="1051560"/>
          </a:xfrm>
          <a:prstGeom prst="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67928" y="1581912"/>
            <a:ext cx="2788920" cy="274320"/>
          </a:xfrm>
          <a:prstGeom prst="rect">
            <a:avLst/>
          </a:prstGeom>
          <a:noFill/>
        </p:spPr>
        <p:txBody>
          <a:bodyPr wrap="square" anchor="t">
            <a:spAutoFit/>
          </a:bodyPr>
          <a:lstStyle/>
          <a:p>
            <a:pPr algn="l">
              <a:defRPr sz="1100" b="1">
                <a:solidFill>
                  <a:srgbClr val="5C646C"/>
                </a:solidFill>
                <a:latin typeface="Aptos"/>
              </a:defRPr>
            </a:pPr>
            <a:r>
              <a:t>2023 Forecast Revenue</a:t>
            </a:r>
          </a:p>
        </p:txBody>
      </p:sp>
      <p:sp>
        <p:nvSpPr>
          <p:cNvPr id="9" name="TextBox 8"/>
          <p:cNvSpPr txBox="1"/>
          <p:nvPr/>
        </p:nvSpPr>
        <p:spPr>
          <a:xfrm>
            <a:off x="8567928" y="1892808"/>
            <a:ext cx="2788920" cy="502920"/>
          </a:xfrm>
          <a:prstGeom prst="rect">
            <a:avLst/>
          </a:prstGeom>
          <a:noFill/>
        </p:spPr>
        <p:txBody>
          <a:bodyPr wrap="square" anchor="t">
            <a:spAutoFit/>
          </a:bodyPr>
          <a:lstStyle/>
          <a:p>
            <a:pPr algn="l">
              <a:defRPr sz="2400" b="1">
                <a:solidFill>
                  <a:srgbClr val="EF702E"/>
                </a:solidFill>
                <a:latin typeface="Aptos"/>
              </a:defRPr>
            </a:pPr>
            <a:r>
              <a:t>$860,252</a:t>
            </a:r>
          </a:p>
        </p:txBody>
      </p:sp>
      <p:sp>
        <p:nvSpPr>
          <p:cNvPr id="10" name="Rounded Rectangle 9"/>
          <p:cNvSpPr/>
          <p:nvPr/>
        </p:nvSpPr>
        <p:spPr>
          <a:xfrm>
            <a:off x="8366760" y="2670048"/>
            <a:ext cx="3154680" cy="10515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366760" y="2670048"/>
            <a:ext cx="73152" cy="1051560"/>
          </a:xfrm>
          <a:prstGeom prst="rect">
            <a:avLst/>
          </a:prstGeom>
          <a:solidFill>
            <a:srgbClr val="1E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67928" y="2834640"/>
            <a:ext cx="2788920" cy="274320"/>
          </a:xfrm>
          <a:prstGeom prst="rect">
            <a:avLst/>
          </a:prstGeom>
          <a:noFill/>
        </p:spPr>
        <p:txBody>
          <a:bodyPr wrap="square" anchor="t">
            <a:spAutoFit/>
          </a:bodyPr>
          <a:lstStyle/>
          <a:p>
            <a:pPr algn="l">
              <a:defRPr sz="1100" b="1">
                <a:solidFill>
                  <a:srgbClr val="5C646C"/>
                </a:solidFill>
                <a:latin typeface="Aptos"/>
              </a:defRPr>
            </a:pPr>
            <a:r>
              <a:t>Average Monthly Forecast</a:t>
            </a:r>
          </a:p>
        </p:txBody>
      </p:sp>
      <p:sp>
        <p:nvSpPr>
          <p:cNvPr id="13" name="TextBox 12"/>
          <p:cNvSpPr txBox="1"/>
          <p:nvPr/>
        </p:nvSpPr>
        <p:spPr>
          <a:xfrm>
            <a:off x="8567928" y="3145536"/>
            <a:ext cx="2788920" cy="502920"/>
          </a:xfrm>
          <a:prstGeom prst="rect">
            <a:avLst/>
          </a:prstGeom>
          <a:noFill/>
        </p:spPr>
        <p:txBody>
          <a:bodyPr wrap="square" anchor="t">
            <a:spAutoFit/>
          </a:bodyPr>
          <a:lstStyle/>
          <a:p>
            <a:pPr algn="l">
              <a:defRPr sz="2400" b="1">
                <a:solidFill>
                  <a:srgbClr val="1E708C"/>
                </a:solidFill>
                <a:latin typeface="Aptos"/>
              </a:defRPr>
            </a:pPr>
            <a:r>
              <a:t>$71,688</a:t>
            </a:r>
          </a:p>
        </p:txBody>
      </p:sp>
      <p:sp>
        <p:nvSpPr>
          <p:cNvPr id="14" name="Rounded Rectangle 13"/>
          <p:cNvSpPr/>
          <p:nvPr/>
        </p:nvSpPr>
        <p:spPr>
          <a:xfrm>
            <a:off x="8366760" y="3922776"/>
            <a:ext cx="3154680" cy="10515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66760" y="3922776"/>
            <a:ext cx="73152" cy="1051560"/>
          </a:xfrm>
          <a:prstGeom prst="rect">
            <a:avLst/>
          </a:prstGeom>
          <a:solidFill>
            <a:srgbClr val="418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67928" y="4087368"/>
            <a:ext cx="2788920" cy="274320"/>
          </a:xfrm>
          <a:prstGeom prst="rect">
            <a:avLst/>
          </a:prstGeom>
          <a:noFill/>
        </p:spPr>
        <p:txBody>
          <a:bodyPr wrap="square" anchor="t">
            <a:spAutoFit/>
          </a:bodyPr>
          <a:lstStyle/>
          <a:p>
            <a:pPr algn="l">
              <a:defRPr sz="1100" b="1">
                <a:solidFill>
                  <a:srgbClr val="5C646C"/>
                </a:solidFill>
                <a:latin typeface="Aptos"/>
              </a:defRPr>
            </a:pPr>
            <a:r>
              <a:t>Highest Forecast Month</a:t>
            </a:r>
          </a:p>
        </p:txBody>
      </p:sp>
      <p:sp>
        <p:nvSpPr>
          <p:cNvPr id="17" name="TextBox 16"/>
          <p:cNvSpPr txBox="1"/>
          <p:nvPr/>
        </p:nvSpPr>
        <p:spPr>
          <a:xfrm>
            <a:off x="8567928" y="4398264"/>
            <a:ext cx="2788920" cy="502920"/>
          </a:xfrm>
          <a:prstGeom prst="rect">
            <a:avLst/>
          </a:prstGeom>
          <a:noFill/>
        </p:spPr>
        <p:txBody>
          <a:bodyPr wrap="square" anchor="t">
            <a:spAutoFit/>
          </a:bodyPr>
          <a:lstStyle/>
          <a:p>
            <a:pPr algn="l">
              <a:defRPr sz="2400" b="1">
                <a:solidFill>
                  <a:srgbClr val="418C64"/>
                </a:solidFill>
                <a:latin typeface="Aptos"/>
              </a:defRPr>
            </a:pPr>
            <a:r>
              <a:t>Nov | $109,854</a:t>
            </a:r>
          </a:p>
        </p:txBody>
      </p:sp>
      <p:sp>
        <p:nvSpPr>
          <p:cNvPr id="18" name="Rounded Rectangle 17"/>
          <p:cNvSpPr/>
          <p:nvPr/>
        </p:nvSpPr>
        <p:spPr>
          <a:xfrm>
            <a:off x="8366760" y="5175504"/>
            <a:ext cx="3154680" cy="1051560"/>
          </a:xfrm>
          <a:prstGeom prst="roundRect">
            <a:avLst/>
          </a:prstGeom>
          <a:solidFill>
            <a:srgbClr val="FFFFFF"/>
          </a:solidFill>
          <a:ln w="12700">
            <a:solidFill>
              <a:srgbClr val="D6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66760" y="5175504"/>
            <a:ext cx="73152" cy="1051560"/>
          </a:xfrm>
          <a:prstGeom prst="rect">
            <a:avLst/>
          </a:prstGeom>
          <a:solidFill>
            <a:srgbClr val="C4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67928" y="5340096"/>
            <a:ext cx="2788920" cy="274320"/>
          </a:xfrm>
          <a:prstGeom prst="rect">
            <a:avLst/>
          </a:prstGeom>
          <a:noFill/>
        </p:spPr>
        <p:txBody>
          <a:bodyPr wrap="square" anchor="t">
            <a:spAutoFit/>
          </a:bodyPr>
          <a:lstStyle/>
          <a:p>
            <a:pPr algn="l">
              <a:defRPr sz="1100" b="1">
                <a:solidFill>
                  <a:srgbClr val="5C646C"/>
                </a:solidFill>
                <a:latin typeface="Aptos"/>
              </a:defRPr>
            </a:pPr>
            <a:r>
              <a:t>Lowest Forecast Month</a:t>
            </a:r>
          </a:p>
        </p:txBody>
      </p:sp>
      <p:sp>
        <p:nvSpPr>
          <p:cNvPr id="21" name="TextBox 20"/>
          <p:cNvSpPr txBox="1"/>
          <p:nvPr/>
        </p:nvSpPr>
        <p:spPr>
          <a:xfrm>
            <a:off x="8567928" y="5650992"/>
            <a:ext cx="2788920" cy="502920"/>
          </a:xfrm>
          <a:prstGeom prst="rect">
            <a:avLst/>
          </a:prstGeom>
          <a:noFill/>
        </p:spPr>
        <p:txBody>
          <a:bodyPr wrap="square" anchor="t">
            <a:spAutoFit/>
          </a:bodyPr>
          <a:lstStyle/>
          <a:p>
            <a:pPr algn="l">
              <a:defRPr sz="2400" b="1">
                <a:solidFill>
                  <a:srgbClr val="C49137"/>
                </a:solidFill>
                <a:latin typeface="Aptos"/>
              </a:defRPr>
            </a:pPr>
            <a:r>
              <a:t>Feb | $42,569</a:t>
            </a:r>
          </a:p>
        </p:txBody>
      </p:sp>
      <p:sp>
        <p:nvSpPr>
          <p:cNvPr id="22" name="Rectangle 21"/>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08</a:t>
            </a:r>
          </a:p>
        </p:txBody>
      </p:sp>
      <p:pic>
        <p:nvPicPr>
          <p:cNvPr id="25" name="Picture 24">
            <a:extLst>
              <a:ext uri="{FF2B5EF4-FFF2-40B4-BE49-F238E27FC236}">
                <a16:creationId xmlns:a16="http://schemas.microsoft.com/office/drawing/2014/main" id="{EB10B228-CC88-A77C-50FA-467420798656}"/>
              </a:ext>
            </a:extLst>
          </p:cNvPr>
          <p:cNvPicPr>
            <a:picLocks noChangeAspect="1"/>
          </p:cNvPicPr>
          <p:nvPr/>
        </p:nvPicPr>
        <p:blipFill>
          <a:blip r:embed="rId3"/>
          <a:stretch>
            <a:fillRect/>
          </a:stretch>
        </p:blipFill>
        <p:spPr>
          <a:xfrm>
            <a:off x="557825" y="1780738"/>
            <a:ext cx="7251110" cy="4095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0314"/>
    </mc:Choice>
    <mc:Fallback xmlns="">
      <p:transition spd="slow" advTm="7031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411480"/>
          </a:xfrm>
          <a:prstGeom prst="rect">
            <a:avLst/>
          </a:prstGeom>
          <a:noFill/>
        </p:spPr>
        <p:txBody>
          <a:bodyPr wrap="square" anchor="t">
            <a:spAutoFit/>
          </a:bodyPr>
          <a:lstStyle/>
          <a:p>
            <a:pPr algn="l">
              <a:defRPr sz="2400" b="1">
                <a:solidFill>
                  <a:srgbClr val="2D343A"/>
                </a:solidFill>
                <a:latin typeface="Aptos"/>
              </a:defRPr>
            </a:pPr>
            <a:r>
              <a:t>Forecast Validation: Can Management Trust the Forecast?</a:t>
            </a:r>
          </a:p>
        </p:txBody>
      </p:sp>
      <p:sp>
        <p:nvSpPr>
          <p:cNvPr id="4" name="TextBox 3"/>
          <p:cNvSpPr txBox="1"/>
          <p:nvPr/>
        </p:nvSpPr>
        <p:spPr>
          <a:xfrm>
            <a:off x="585216" y="768096"/>
            <a:ext cx="10972800" cy="256032"/>
          </a:xfrm>
          <a:prstGeom prst="rect">
            <a:avLst/>
          </a:prstGeom>
          <a:noFill/>
        </p:spPr>
        <p:txBody>
          <a:bodyPr wrap="square" anchor="t">
            <a:spAutoFit/>
          </a:bodyPr>
          <a:lstStyle/>
          <a:p>
            <a:pPr algn="l">
              <a:defRPr sz="1050" b="0">
                <a:solidFill>
                  <a:srgbClr val="5C646C"/>
                </a:solidFill>
                <a:latin typeface="Aptos"/>
              </a:defRPr>
            </a:pPr>
            <a:r>
              <a:t>Holdout backtest: train on 2019–2021 → forecast 2022 → compare with actual 2022.</a:t>
            </a:r>
          </a:p>
        </p:txBody>
      </p:sp>
      <p:sp>
        <p:nvSpPr>
          <p:cNvPr id="5" name="Rounded Rectangle 4"/>
          <p:cNvSpPr/>
          <p:nvPr/>
        </p:nvSpPr>
        <p:spPr>
          <a:xfrm>
            <a:off x="621792" y="1298448"/>
            <a:ext cx="2788920" cy="1874519"/>
          </a:xfrm>
          <a:prstGeom prst="roundRect">
            <a:avLst/>
          </a:prstGeom>
          <a:solidFill>
            <a:srgbClr val="FFF4EC"/>
          </a:solidFill>
          <a:ln w="16510">
            <a:solidFill>
              <a:srgbClr val="EF7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81912"/>
            <a:ext cx="2286000" cy="228600"/>
          </a:xfrm>
          <a:prstGeom prst="rect">
            <a:avLst/>
          </a:prstGeom>
          <a:noFill/>
        </p:spPr>
        <p:txBody>
          <a:bodyPr wrap="square" anchor="t">
            <a:spAutoFit/>
          </a:bodyPr>
          <a:lstStyle/>
          <a:p>
            <a:pPr algn="ctr">
              <a:defRPr sz="1050" b="1">
                <a:solidFill>
                  <a:srgbClr val="EF702E"/>
                </a:solidFill>
                <a:latin typeface="Aptos"/>
              </a:defRPr>
            </a:pPr>
            <a:r>
              <a:t>BACKTEST MAPE</a:t>
            </a:r>
          </a:p>
        </p:txBody>
      </p:sp>
      <p:sp>
        <p:nvSpPr>
          <p:cNvPr id="7" name="TextBox 6"/>
          <p:cNvSpPr txBox="1"/>
          <p:nvPr/>
        </p:nvSpPr>
        <p:spPr>
          <a:xfrm>
            <a:off x="868680" y="1947672"/>
            <a:ext cx="2286000" cy="566928"/>
          </a:xfrm>
          <a:prstGeom prst="rect">
            <a:avLst/>
          </a:prstGeom>
          <a:noFill/>
        </p:spPr>
        <p:txBody>
          <a:bodyPr wrap="square" anchor="t">
            <a:spAutoFit/>
          </a:bodyPr>
          <a:lstStyle/>
          <a:p>
            <a:pPr algn="ctr">
              <a:defRPr sz="2700" b="1">
                <a:solidFill>
                  <a:srgbClr val="EF702E"/>
                </a:solidFill>
                <a:latin typeface="Aptos"/>
              </a:defRPr>
            </a:pPr>
            <a:r>
              <a:t>47.99%</a:t>
            </a:r>
          </a:p>
        </p:txBody>
      </p:sp>
      <p:sp>
        <p:nvSpPr>
          <p:cNvPr id="8" name="TextBox 7"/>
          <p:cNvSpPr txBox="1"/>
          <p:nvPr/>
        </p:nvSpPr>
        <p:spPr>
          <a:xfrm>
            <a:off x="868680" y="2615184"/>
            <a:ext cx="2286000" cy="256032"/>
          </a:xfrm>
          <a:prstGeom prst="rect">
            <a:avLst/>
          </a:prstGeom>
          <a:noFill/>
        </p:spPr>
        <p:txBody>
          <a:bodyPr wrap="square" anchor="t">
            <a:spAutoFit/>
          </a:bodyPr>
          <a:lstStyle/>
          <a:p>
            <a:pPr algn="ctr">
              <a:defRPr sz="950" b="0">
                <a:solidFill>
                  <a:srgbClr val="5C646C"/>
                </a:solidFill>
                <a:latin typeface="Aptos"/>
              </a:defRPr>
            </a:pPr>
            <a:r>
              <a:t>Substantial monthly uncertainty</a:t>
            </a:r>
          </a:p>
        </p:txBody>
      </p:sp>
      <p:sp>
        <p:nvSpPr>
          <p:cNvPr id="9" name="Rounded Rectangle 8"/>
          <p:cNvSpPr/>
          <p:nvPr/>
        </p:nvSpPr>
        <p:spPr>
          <a:xfrm>
            <a:off x="621792" y="3456432"/>
            <a:ext cx="2788920" cy="1490472"/>
          </a:xfrm>
          <a:prstGeom prst="roundRect">
            <a:avLst/>
          </a:prstGeom>
          <a:solidFill>
            <a:srgbClr val="FFFFFF"/>
          </a:solidFill>
          <a:ln w="1524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 y="3456432"/>
            <a:ext cx="73152" cy="1490472"/>
          </a:xfrm>
          <a:prstGeom prst="rect">
            <a:avLst/>
          </a:prstGeom>
          <a:solidFill>
            <a:srgbClr val="25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3685032"/>
            <a:ext cx="2240280" cy="228600"/>
          </a:xfrm>
          <a:prstGeom prst="rect">
            <a:avLst/>
          </a:prstGeom>
          <a:noFill/>
        </p:spPr>
        <p:txBody>
          <a:bodyPr wrap="square" anchor="t">
            <a:spAutoFit/>
          </a:bodyPr>
          <a:lstStyle/>
          <a:p>
            <a:pPr algn="l">
              <a:defRPr sz="1050" b="1">
                <a:solidFill>
                  <a:srgbClr val="5C646C"/>
                </a:solidFill>
                <a:latin typeface="Aptos"/>
              </a:defRPr>
            </a:pPr>
            <a:r>
              <a:t>DECISION RULE</a:t>
            </a:r>
          </a:p>
        </p:txBody>
      </p:sp>
      <p:sp>
        <p:nvSpPr>
          <p:cNvPr id="12" name="TextBox 11"/>
          <p:cNvSpPr txBox="1"/>
          <p:nvPr/>
        </p:nvSpPr>
        <p:spPr>
          <a:xfrm>
            <a:off x="868680" y="4050791"/>
            <a:ext cx="2240280" cy="566928"/>
          </a:xfrm>
          <a:prstGeom prst="rect">
            <a:avLst/>
          </a:prstGeom>
          <a:noFill/>
        </p:spPr>
        <p:txBody>
          <a:bodyPr wrap="square" anchor="t">
            <a:spAutoFit/>
          </a:bodyPr>
          <a:lstStyle/>
          <a:p>
            <a:pPr algn="l">
              <a:defRPr sz="1050" b="0">
                <a:solidFill>
                  <a:srgbClr val="2D343A"/>
                </a:solidFill>
                <a:latin typeface="Aptos"/>
              </a:defRPr>
            </a:pPr>
            <a:r>
              <a:t>Use the 2023 ETS forecast as a directional planning estimate—not a precise operating commitment.</a:t>
            </a:r>
          </a:p>
        </p:txBody>
      </p:sp>
      <p:sp>
        <p:nvSpPr>
          <p:cNvPr id="13" name="Rounded Rectangle 12"/>
          <p:cNvSpPr/>
          <p:nvPr/>
        </p:nvSpPr>
        <p:spPr>
          <a:xfrm>
            <a:off x="3703320" y="1298448"/>
            <a:ext cx="7818120" cy="3648456"/>
          </a:xfrm>
          <a:prstGeom prst="roundRect">
            <a:avLst/>
          </a:prstGeom>
          <a:solidFill>
            <a:srgbClr val="F6F8FA"/>
          </a:solidFill>
          <a:ln w="1270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77639" y="1508760"/>
            <a:ext cx="7223760" cy="256032"/>
          </a:xfrm>
          <a:prstGeom prst="rect">
            <a:avLst/>
          </a:prstGeom>
          <a:noFill/>
        </p:spPr>
        <p:txBody>
          <a:bodyPr wrap="square" anchor="t">
            <a:spAutoFit/>
          </a:bodyPr>
          <a:lstStyle/>
          <a:p>
            <a:pPr algn="l">
              <a:defRPr sz="1250" b="1">
                <a:solidFill>
                  <a:srgbClr val="184669"/>
                </a:solidFill>
                <a:latin typeface="Aptos"/>
              </a:defRPr>
            </a:pPr>
            <a:r>
              <a:t>2022 Holdout Backtest — Monthly Absolute % Error</a:t>
            </a:r>
          </a:p>
        </p:txBody>
      </p:sp>
      <p:sp>
        <p:nvSpPr>
          <p:cNvPr id="15" name="Rectangle 14"/>
          <p:cNvSpPr/>
          <p:nvPr/>
        </p:nvSpPr>
        <p:spPr>
          <a:xfrm>
            <a:off x="3977639" y="1901952"/>
            <a:ext cx="3520440" cy="274320"/>
          </a:xfrm>
          <a:prstGeom prst="rect">
            <a:avLst/>
          </a:prstGeom>
          <a:solidFill>
            <a:srgbClr val="EFF6FB"/>
          </a:solidFill>
          <a:ln>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69079" y="1943100"/>
            <a:ext cx="3337560" cy="182880"/>
          </a:xfrm>
          <a:prstGeom prst="rect">
            <a:avLst/>
          </a:prstGeom>
          <a:noFill/>
        </p:spPr>
        <p:txBody>
          <a:bodyPr wrap="square" anchor="t">
            <a:spAutoFit/>
          </a:bodyPr>
          <a:lstStyle/>
          <a:p>
            <a:pPr algn="l">
              <a:defRPr sz="950" b="1">
                <a:solidFill>
                  <a:srgbClr val="184669"/>
                </a:solidFill>
                <a:latin typeface="Aptos"/>
              </a:defRPr>
            </a:pPr>
            <a:r>
              <a:t>Month</a:t>
            </a:r>
          </a:p>
        </p:txBody>
      </p:sp>
      <p:sp>
        <p:nvSpPr>
          <p:cNvPr id="17" name="Rectangle 16"/>
          <p:cNvSpPr/>
          <p:nvPr/>
        </p:nvSpPr>
        <p:spPr>
          <a:xfrm>
            <a:off x="7498079" y="1901952"/>
            <a:ext cx="3246120" cy="274320"/>
          </a:xfrm>
          <a:prstGeom prst="rect">
            <a:avLst/>
          </a:prstGeom>
          <a:solidFill>
            <a:srgbClr val="EFF6FB"/>
          </a:solidFill>
          <a:ln>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19" y="1943100"/>
            <a:ext cx="3063239" cy="182880"/>
          </a:xfrm>
          <a:prstGeom prst="rect">
            <a:avLst/>
          </a:prstGeom>
          <a:noFill/>
        </p:spPr>
        <p:txBody>
          <a:bodyPr wrap="square" anchor="t">
            <a:spAutoFit/>
          </a:bodyPr>
          <a:lstStyle/>
          <a:p>
            <a:pPr algn="r">
              <a:defRPr sz="950" b="1">
                <a:solidFill>
                  <a:srgbClr val="184669"/>
                </a:solidFill>
                <a:latin typeface="Aptos"/>
              </a:defRPr>
            </a:pPr>
            <a:r>
              <a:t>Absolute % Error</a:t>
            </a:r>
          </a:p>
        </p:txBody>
      </p:sp>
      <p:sp>
        <p:nvSpPr>
          <p:cNvPr id="19" name="Rectangle 18"/>
          <p:cNvSpPr/>
          <p:nvPr/>
        </p:nvSpPr>
        <p:spPr>
          <a:xfrm>
            <a:off x="3977639" y="2176272"/>
            <a:ext cx="352044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98079" y="2176272"/>
            <a:ext cx="324612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69079" y="2199132"/>
            <a:ext cx="3337560" cy="146304"/>
          </a:xfrm>
          <a:prstGeom prst="rect">
            <a:avLst/>
          </a:prstGeom>
          <a:noFill/>
        </p:spPr>
        <p:txBody>
          <a:bodyPr wrap="square" anchor="t">
            <a:spAutoFit/>
          </a:bodyPr>
          <a:lstStyle/>
          <a:p>
            <a:pPr algn="l">
              <a:defRPr sz="840" b="0">
                <a:solidFill>
                  <a:srgbClr val="2D343A"/>
                </a:solidFill>
                <a:latin typeface="Aptos"/>
              </a:defRPr>
            </a:pPr>
            <a:r>
              <a:t>Jan-2022</a:t>
            </a:r>
          </a:p>
        </p:txBody>
      </p:sp>
      <p:sp>
        <p:nvSpPr>
          <p:cNvPr id="22" name="TextBox 21"/>
          <p:cNvSpPr txBox="1"/>
          <p:nvPr/>
        </p:nvSpPr>
        <p:spPr>
          <a:xfrm>
            <a:off x="7589519" y="2199132"/>
            <a:ext cx="3063239" cy="146304"/>
          </a:xfrm>
          <a:prstGeom prst="rect">
            <a:avLst/>
          </a:prstGeom>
          <a:noFill/>
        </p:spPr>
        <p:txBody>
          <a:bodyPr wrap="square" anchor="t">
            <a:spAutoFit/>
          </a:bodyPr>
          <a:lstStyle/>
          <a:p>
            <a:pPr algn="r">
              <a:defRPr sz="840" b="0">
                <a:solidFill>
                  <a:srgbClr val="2D343A"/>
                </a:solidFill>
                <a:latin typeface="Aptos"/>
              </a:defRPr>
            </a:pPr>
            <a:r>
              <a:t>44.10%</a:t>
            </a:r>
          </a:p>
        </p:txBody>
      </p:sp>
      <p:sp>
        <p:nvSpPr>
          <p:cNvPr id="23" name="Rectangle 22"/>
          <p:cNvSpPr/>
          <p:nvPr/>
        </p:nvSpPr>
        <p:spPr>
          <a:xfrm>
            <a:off x="3977639" y="2363724"/>
            <a:ext cx="352044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498079" y="2363724"/>
            <a:ext cx="324612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69079" y="2386584"/>
            <a:ext cx="3337560" cy="146304"/>
          </a:xfrm>
          <a:prstGeom prst="rect">
            <a:avLst/>
          </a:prstGeom>
          <a:noFill/>
        </p:spPr>
        <p:txBody>
          <a:bodyPr wrap="square" anchor="t">
            <a:spAutoFit/>
          </a:bodyPr>
          <a:lstStyle/>
          <a:p>
            <a:pPr algn="l">
              <a:defRPr sz="840" b="0">
                <a:solidFill>
                  <a:srgbClr val="2D343A"/>
                </a:solidFill>
                <a:latin typeface="Aptos"/>
              </a:defRPr>
            </a:pPr>
            <a:r>
              <a:t>Feb-2022</a:t>
            </a:r>
          </a:p>
        </p:txBody>
      </p:sp>
      <p:sp>
        <p:nvSpPr>
          <p:cNvPr id="26" name="TextBox 25"/>
          <p:cNvSpPr txBox="1"/>
          <p:nvPr/>
        </p:nvSpPr>
        <p:spPr>
          <a:xfrm>
            <a:off x="7589519" y="2386584"/>
            <a:ext cx="3063239" cy="146304"/>
          </a:xfrm>
          <a:prstGeom prst="rect">
            <a:avLst/>
          </a:prstGeom>
          <a:noFill/>
        </p:spPr>
        <p:txBody>
          <a:bodyPr wrap="square" anchor="t">
            <a:spAutoFit/>
          </a:bodyPr>
          <a:lstStyle/>
          <a:p>
            <a:pPr algn="r">
              <a:defRPr sz="840" b="1">
                <a:solidFill>
                  <a:srgbClr val="EF702E"/>
                </a:solidFill>
                <a:latin typeface="Aptos"/>
              </a:defRPr>
            </a:pPr>
            <a:r>
              <a:t>217.32%</a:t>
            </a:r>
          </a:p>
        </p:txBody>
      </p:sp>
      <p:sp>
        <p:nvSpPr>
          <p:cNvPr id="27" name="Rectangle 26"/>
          <p:cNvSpPr/>
          <p:nvPr/>
        </p:nvSpPr>
        <p:spPr>
          <a:xfrm>
            <a:off x="3977639" y="2551176"/>
            <a:ext cx="352044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498079" y="2551176"/>
            <a:ext cx="324612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069079" y="2574036"/>
            <a:ext cx="3337560" cy="146304"/>
          </a:xfrm>
          <a:prstGeom prst="rect">
            <a:avLst/>
          </a:prstGeom>
          <a:noFill/>
        </p:spPr>
        <p:txBody>
          <a:bodyPr wrap="square" anchor="t">
            <a:spAutoFit/>
          </a:bodyPr>
          <a:lstStyle/>
          <a:p>
            <a:pPr algn="l">
              <a:defRPr sz="840" b="0">
                <a:solidFill>
                  <a:srgbClr val="2D343A"/>
                </a:solidFill>
                <a:latin typeface="Aptos"/>
              </a:defRPr>
            </a:pPr>
            <a:r>
              <a:t>Mar-2022</a:t>
            </a:r>
          </a:p>
        </p:txBody>
      </p:sp>
      <p:sp>
        <p:nvSpPr>
          <p:cNvPr id="30" name="TextBox 29"/>
          <p:cNvSpPr txBox="1"/>
          <p:nvPr/>
        </p:nvSpPr>
        <p:spPr>
          <a:xfrm>
            <a:off x="7589519" y="2574036"/>
            <a:ext cx="3063239" cy="146304"/>
          </a:xfrm>
          <a:prstGeom prst="rect">
            <a:avLst/>
          </a:prstGeom>
          <a:noFill/>
        </p:spPr>
        <p:txBody>
          <a:bodyPr wrap="square" anchor="t">
            <a:spAutoFit/>
          </a:bodyPr>
          <a:lstStyle/>
          <a:p>
            <a:pPr algn="r">
              <a:defRPr sz="840" b="0">
                <a:solidFill>
                  <a:srgbClr val="2D343A"/>
                </a:solidFill>
                <a:latin typeface="Aptos"/>
              </a:defRPr>
            </a:pPr>
            <a:r>
              <a:t>11.22%</a:t>
            </a:r>
          </a:p>
        </p:txBody>
      </p:sp>
      <p:sp>
        <p:nvSpPr>
          <p:cNvPr id="31" name="Rectangle 30"/>
          <p:cNvSpPr/>
          <p:nvPr/>
        </p:nvSpPr>
        <p:spPr>
          <a:xfrm>
            <a:off x="3977639" y="2738628"/>
            <a:ext cx="352044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498079" y="2738628"/>
            <a:ext cx="324612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069079" y="2761488"/>
            <a:ext cx="3337560" cy="146304"/>
          </a:xfrm>
          <a:prstGeom prst="rect">
            <a:avLst/>
          </a:prstGeom>
          <a:noFill/>
        </p:spPr>
        <p:txBody>
          <a:bodyPr wrap="square" anchor="t">
            <a:spAutoFit/>
          </a:bodyPr>
          <a:lstStyle/>
          <a:p>
            <a:pPr algn="l">
              <a:defRPr sz="840" b="0">
                <a:solidFill>
                  <a:srgbClr val="2D343A"/>
                </a:solidFill>
                <a:latin typeface="Aptos"/>
              </a:defRPr>
            </a:pPr>
            <a:r>
              <a:t>Apr-2022</a:t>
            </a:r>
          </a:p>
        </p:txBody>
      </p:sp>
      <p:sp>
        <p:nvSpPr>
          <p:cNvPr id="34" name="TextBox 33"/>
          <p:cNvSpPr txBox="1"/>
          <p:nvPr/>
        </p:nvSpPr>
        <p:spPr>
          <a:xfrm>
            <a:off x="7589519" y="2761488"/>
            <a:ext cx="3063239" cy="146304"/>
          </a:xfrm>
          <a:prstGeom prst="rect">
            <a:avLst/>
          </a:prstGeom>
          <a:noFill/>
        </p:spPr>
        <p:txBody>
          <a:bodyPr wrap="square" anchor="t">
            <a:spAutoFit/>
          </a:bodyPr>
          <a:lstStyle/>
          <a:p>
            <a:pPr algn="r">
              <a:defRPr sz="840" b="0">
                <a:solidFill>
                  <a:srgbClr val="EF702E"/>
                </a:solidFill>
                <a:latin typeface="Aptos"/>
              </a:defRPr>
            </a:pPr>
            <a:r>
              <a:t>82.18%</a:t>
            </a:r>
          </a:p>
        </p:txBody>
      </p:sp>
      <p:sp>
        <p:nvSpPr>
          <p:cNvPr id="35" name="Rectangle 34"/>
          <p:cNvSpPr/>
          <p:nvPr/>
        </p:nvSpPr>
        <p:spPr>
          <a:xfrm>
            <a:off x="3977639" y="2926079"/>
            <a:ext cx="352044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498079" y="2926079"/>
            <a:ext cx="324612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69079" y="2948939"/>
            <a:ext cx="3337560" cy="146304"/>
          </a:xfrm>
          <a:prstGeom prst="rect">
            <a:avLst/>
          </a:prstGeom>
          <a:noFill/>
        </p:spPr>
        <p:txBody>
          <a:bodyPr wrap="square" anchor="t">
            <a:spAutoFit/>
          </a:bodyPr>
          <a:lstStyle/>
          <a:p>
            <a:pPr algn="l">
              <a:defRPr sz="840" b="0">
                <a:solidFill>
                  <a:srgbClr val="2D343A"/>
                </a:solidFill>
                <a:latin typeface="Aptos"/>
              </a:defRPr>
            </a:pPr>
            <a:r>
              <a:t>May-2022</a:t>
            </a:r>
          </a:p>
        </p:txBody>
      </p:sp>
      <p:sp>
        <p:nvSpPr>
          <p:cNvPr id="38" name="TextBox 37"/>
          <p:cNvSpPr txBox="1"/>
          <p:nvPr/>
        </p:nvSpPr>
        <p:spPr>
          <a:xfrm>
            <a:off x="7589519" y="2948939"/>
            <a:ext cx="3063239" cy="146304"/>
          </a:xfrm>
          <a:prstGeom prst="rect">
            <a:avLst/>
          </a:prstGeom>
          <a:noFill/>
        </p:spPr>
        <p:txBody>
          <a:bodyPr wrap="square" anchor="t">
            <a:spAutoFit/>
          </a:bodyPr>
          <a:lstStyle/>
          <a:p>
            <a:pPr algn="r">
              <a:defRPr sz="840" b="0">
                <a:solidFill>
                  <a:srgbClr val="EF702E"/>
                </a:solidFill>
                <a:latin typeface="Aptos"/>
              </a:defRPr>
            </a:pPr>
            <a:r>
              <a:t>52.71%</a:t>
            </a:r>
          </a:p>
        </p:txBody>
      </p:sp>
      <p:sp>
        <p:nvSpPr>
          <p:cNvPr id="39" name="Rectangle 38"/>
          <p:cNvSpPr/>
          <p:nvPr/>
        </p:nvSpPr>
        <p:spPr>
          <a:xfrm>
            <a:off x="3977639" y="3113532"/>
            <a:ext cx="352044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498079" y="3113532"/>
            <a:ext cx="324612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069079" y="3136391"/>
            <a:ext cx="3337560" cy="146304"/>
          </a:xfrm>
          <a:prstGeom prst="rect">
            <a:avLst/>
          </a:prstGeom>
          <a:noFill/>
        </p:spPr>
        <p:txBody>
          <a:bodyPr wrap="square" anchor="t">
            <a:spAutoFit/>
          </a:bodyPr>
          <a:lstStyle/>
          <a:p>
            <a:pPr algn="l">
              <a:defRPr sz="840" b="0">
                <a:solidFill>
                  <a:srgbClr val="2D343A"/>
                </a:solidFill>
                <a:latin typeface="Aptos"/>
              </a:defRPr>
            </a:pPr>
            <a:r>
              <a:t>Jun-2022</a:t>
            </a:r>
          </a:p>
        </p:txBody>
      </p:sp>
      <p:sp>
        <p:nvSpPr>
          <p:cNvPr id="42" name="TextBox 41"/>
          <p:cNvSpPr txBox="1"/>
          <p:nvPr/>
        </p:nvSpPr>
        <p:spPr>
          <a:xfrm>
            <a:off x="7589519" y="3136391"/>
            <a:ext cx="3063239" cy="146304"/>
          </a:xfrm>
          <a:prstGeom prst="rect">
            <a:avLst/>
          </a:prstGeom>
          <a:noFill/>
        </p:spPr>
        <p:txBody>
          <a:bodyPr wrap="square" anchor="t">
            <a:spAutoFit/>
          </a:bodyPr>
          <a:lstStyle/>
          <a:p>
            <a:pPr algn="r">
              <a:defRPr sz="840" b="0">
                <a:solidFill>
                  <a:srgbClr val="2D343A"/>
                </a:solidFill>
                <a:latin typeface="Aptos"/>
              </a:defRPr>
            </a:pPr>
            <a:r>
              <a:t>29.57%</a:t>
            </a:r>
          </a:p>
        </p:txBody>
      </p:sp>
      <p:sp>
        <p:nvSpPr>
          <p:cNvPr id="43" name="Rectangle 42"/>
          <p:cNvSpPr/>
          <p:nvPr/>
        </p:nvSpPr>
        <p:spPr>
          <a:xfrm>
            <a:off x="3977639" y="3300984"/>
            <a:ext cx="352044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498079" y="3300984"/>
            <a:ext cx="324612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069079" y="3323844"/>
            <a:ext cx="3337560" cy="146304"/>
          </a:xfrm>
          <a:prstGeom prst="rect">
            <a:avLst/>
          </a:prstGeom>
          <a:noFill/>
        </p:spPr>
        <p:txBody>
          <a:bodyPr wrap="square" anchor="t">
            <a:spAutoFit/>
          </a:bodyPr>
          <a:lstStyle/>
          <a:p>
            <a:pPr algn="l">
              <a:defRPr sz="840" b="0">
                <a:solidFill>
                  <a:srgbClr val="2D343A"/>
                </a:solidFill>
                <a:latin typeface="Aptos"/>
              </a:defRPr>
            </a:pPr>
            <a:r>
              <a:t>Jul-2022</a:t>
            </a:r>
          </a:p>
        </p:txBody>
      </p:sp>
      <p:sp>
        <p:nvSpPr>
          <p:cNvPr id="46" name="TextBox 45"/>
          <p:cNvSpPr txBox="1"/>
          <p:nvPr/>
        </p:nvSpPr>
        <p:spPr>
          <a:xfrm>
            <a:off x="7589519" y="3323844"/>
            <a:ext cx="3063239" cy="146304"/>
          </a:xfrm>
          <a:prstGeom prst="rect">
            <a:avLst/>
          </a:prstGeom>
          <a:noFill/>
        </p:spPr>
        <p:txBody>
          <a:bodyPr wrap="square" anchor="t">
            <a:spAutoFit/>
          </a:bodyPr>
          <a:lstStyle/>
          <a:p>
            <a:pPr algn="r">
              <a:defRPr sz="840" b="0">
                <a:solidFill>
                  <a:srgbClr val="EF702E"/>
                </a:solidFill>
                <a:latin typeface="Aptos"/>
              </a:defRPr>
            </a:pPr>
            <a:r>
              <a:t>54.00%</a:t>
            </a:r>
          </a:p>
        </p:txBody>
      </p:sp>
      <p:sp>
        <p:nvSpPr>
          <p:cNvPr id="47" name="Rectangle 46"/>
          <p:cNvSpPr/>
          <p:nvPr/>
        </p:nvSpPr>
        <p:spPr>
          <a:xfrm>
            <a:off x="3977639" y="3488435"/>
            <a:ext cx="352044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498079" y="3488435"/>
            <a:ext cx="324612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069079" y="3511295"/>
            <a:ext cx="3337560" cy="146304"/>
          </a:xfrm>
          <a:prstGeom prst="rect">
            <a:avLst/>
          </a:prstGeom>
          <a:noFill/>
        </p:spPr>
        <p:txBody>
          <a:bodyPr wrap="square" anchor="t">
            <a:spAutoFit/>
          </a:bodyPr>
          <a:lstStyle/>
          <a:p>
            <a:pPr algn="l">
              <a:defRPr sz="840" b="0">
                <a:solidFill>
                  <a:srgbClr val="2D343A"/>
                </a:solidFill>
                <a:latin typeface="Aptos"/>
              </a:defRPr>
            </a:pPr>
            <a:r>
              <a:t>Aug-2022</a:t>
            </a:r>
          </a:p>
        </p:txBody>
      </p:sp>
      <p:sp>
        <p:nvSpPr>
          <p:cNvPr id="50" name="TextBox 49"/>
          <p:cNvSpPr txBox="1"/>
          <p:nvPr/>
        </p:nvSpPr>
        <p:spPr>
          <a:xfrm>
            <a:off x="7589519" y="3511295"/>
            <a:ext cx="3063239" cy="146304"/>
          </a:xfrm>
          <a:prstGeom prst="rect">
            <a:avLst/>
          </a:prstGeom>
          <a:noFill/>
        </p:spPr>
        <p:txBody>
          <a:bodyPr wrap="square" anchor="t">
            <a:spAutoFit/>
          </a:bodyPr>
          <a:lstStyle/>
          <a:p>
            <a:pPr algn="r">
              <a:defRPr sz="840" b="0">
                <a:solidFill>
                  <a:srgbClr val="2D343A"/>
                </a:solidFill>
                <a:latin typeface="Aptos"/>
              </a:defRPr>
            </a:pPr>
            <a:r>
              <a:t>12.11%</a:t>
            </a:r>
          </a:p>
        </p:txBody>
      </p:sp>
      <p:sp>
        <p:nvSpPr>
          <p:cNvPr id="51" name="Rectangle 50"/>
          <p:cNvSpPr/>
          <p:nvPr/>
        </p:nvSpPr>
        <p:spPr>
          <a:xfrm>
            <a:off x="3977639" y="3675887"/>
            <a:ext cx="352044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498079" y="3675887"/>
            <a:ext cx="324612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069079" y="3698748"/>
            <a:ext cx="3337560" cy="146304"/>
          </a:xfrm>
          <a:prstGeom prst="rect">
            <a:avLst/>
          </a:prstGeom>
          <a:noFill/>
        </p:spPr>
        <p:txBody>
          <a:bodyPr wrap="square" anchor="t">
            <a:spAutoFit/>
          </a:bodyPr>
          <a:lstStyle/>
          <a:p>
            <a:pPr algn="l">
              <a:defRPr sz="840" b="0">
                <a:solidFill>
                  <a:srgbClr val="2D343A"/>
                </a:solidFill>
                <a:latin typeface="Aptos"/>
              </a:defRPr>
            </a:pPr>
            <a:r>
              <a:t>Sep-2022</a:t>
            </a:r>
          </a:p>
        </p:txBody>
      </p:sp>
      <p:sp>
        <p:nvSpPr>
          <p:cNvPr id="54" name="TextBox 53"/>
          <p:cNvSpPr txBox="1"/>
          <p:nvPr/>
        </p:nvSpPr>
        <p:spPr>
          <a:xfrm>
            <a:off x="7589519" y="3698748"/>
            <a:ext cx="3063239" cy="146304"/>
          </a:xfrm>
          <a:prstGeom prst="rect">
            <a:avLst/>
          </a:prstGeom>
          <a:noFill/>
        </p:spPr>
        <p:txBody>
          <a:bodyPr wrap="square" anchor="t">
            <a:spAutoFit/>
          </a:bodyPr>
          <a:lstStyle/>
          <a:p>
            <a:pPr algn="r">
              <a:defRPr sz="840" b="0">
                <a:solidFill>
                  <a:srgbClr val="2D343A"/>
                </a:solidFill>
                <a:latin typeface="Aptos"/>
              </a:defRPr>
            </a:pPr>
            <a:r>
              <a:t>18.26%</a:t>
            </a:r>
          </a:p>
        </p:txBody>
      </p:sp>
      <p:sp>
        <p:nvSpPr>
          <p:cNvPr id="55" name="Rectangle 54"/>
          <p:cNvSpPr/>
          <p:nvPr/>
        </p:nvSpPr>
        <p:spPr>
          <a:xfrm>
            <a:off x="3977639" y="3863339"/>
            <a:ext cx="352044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498079" y="3863339"/>
            <a:ext cx="324612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069079" y="3886200"/>
            <a:ext cx="3337560" cy="146304"/>
          </a:xfrm>
          <a:prstGeom prst="rect">
            <a:avLst/>
          </a:prstGeom>
          <a:noFill/>
        </p:spPr>
        <p:txBody>
          <a:bodyPr wrap="square" anchor="t">
            <a:spAutoFit/>
          </a:bodyPr>
          <a:lstStyle/>
          <a:p>
            <a:pPr algn="l">
              <a:defRPr sz="840" b="0">
                <a:solidFill>
                  <a:srgbClr val="2D343A"/>
                </a:solidFill>
                <a:latin typeface="Aptos"/>
              </a:defRPr>
            </a:pPr>
            <a:r>
              <a:t>Oct-2022</a:t>
            </a:r>
          </a:p>
        </p:txBody>
      </p:sp>
      <p:sp>
        <p:nvSpPr>
          <p:cNvPr id="58" name="TextBox 57"/>
          <p:cNvSpPr txBox="1"/>
          <p:nvPr/>
        </p:nvSpPr>
        <p:spPr>
          <a:xfrm>
            <a:off x="7589519" y="3886200"/>
            <a:ext cx="3063239" cy="146304"/>
          </a:xfrm>
          <a:prstGeom prst="rect">
            <a:avLst/>
          </a:prstGeom>
          <a:noFill/>
        </p:spPr>
        <p:txBody>
          <a:bodyPr wrap="square" anchor="t">
            <a:spAutoFit/>
          </a:bodyPr>
          <a:lstStyle/>
          <a:p>
            <a:pPr algn="r">
              <a:defRPr sz="840" b="0">
                <a:solidFill>
                  <a:srgbClr val="2D343A"/>
                </a:solidFill>
                <a:latin typeface="Aptos"/>
              </a:defRPr>
            </a:pPr>
            <a:r>
              <a:t>6.30%</a:t>
            </a:r>
          </a:p>
        </p:txBody>
      </p:sp>
      <p:sp>
        <p:nvSpPr>
          <p:cNvPr id="59" name="Rectangle 58"/>
          <p:cNvSpPr/>
          <p:nvPr/>
        </p:nvSpPr>
        <p:spPr>
          <a:xfrm>
            <a:off x="3977639" y="4050791"/>
            <a:ext cx="352044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7498079" y="4050791"/>
            <a:ext cx="3246120" cy="187452"/>
          </a:xfrm>
          <a:prstGeom prst="rect">
            <a:avLst/>
          </a:prstGeom>
          <a:solidFill>
            <a:srgbClr val="FFFFFF"/>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069079" y="4073652"/>
            <a:ext cx="3337560" cy="146304"/>
          </a:xfrm>
          <a:prstGeom prst="rect">
            <a:avLst/>
          </a:prstGeom>
          <a:noFill/>
        </p:spPr>
        <p:txBody>
          <a:bodyPr wrap="square" anchor="t">
            <a:spAutoFit/>
          </a:bodyPr>
          <a:lstStyle/>
          <a:p>
            <a:pPr algn="l">
              <a:defRPr sz="840" b="0">
                <a:solidFill>
                  <a:srgbClr val="2D343A"/>
                </a:solidFill>
                <a:latin typeface="Aptos"/>
              </a:defRPr>
            </a:pPr>
            <a:r>
              <a:t>Nov-2022</a:t>
            </a:r>
          </a:p>
        </p:txBody>
      </p:sp>
      <p:sp>
        <p:nvSpPr>
          <p:cNvPr id="62" name="TextBox 61"/>
          <p:cNvSpPr txBox="1"/>
          <p:nvPr/>
        </p:nvSpPr>
        <p:spPr>
          <a:xfrm>
            <a:off x="7589519" y="4073652"/>
            <a:ext cx="3063239" cy="146304"/>
          </a:xfrm>
          <a:prstGeom prst="rect">
            <a:avLst/>
          </a:prstGeom>
          <a:noFill/>
        </p:spPr>
        <p:txBody>
          <a:bodyPr wrap="square" anchor="t">
            <a:spAutoFit/>
          </a:bodyPr>
          <a:lstStyle/>
          <a:p>
            <a:pPr algn="r">
              <a:defRPr sz="840" b="0">
                <a:solidFill>
                  <a:srgbClr val="2D343A"/>
                </a:solidFill>
                <a:latin typeface="Aptos"/>
              </a:defRPr>
            </a:pPr>
            <a:r>
              <a:t>37.58%</a:t>
            </a:r>
          </a:p>
        </p:txBody>
      </p:sp>
      <p:sp>
        <p:nvSpPr>
          <p:cNvPr id="63" name="Rectangle 62"/>
          <p:cNvSpPr/>
          <p:nvPr/>
        </p:nvSpPr>
        <p:spPr>
          <a:xfrm>
            <a:off x="3977639" y="4238244"/>
            <a:ext cx="352044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498079" y="4238244"/>
            <a:ext cx="3246120" cy="187452"/>
          </a:xfrm>
          <a:prstGeom prst="rect">
            <a:avLst/>
          </a:prstGeom>
          <a:solidFill>
            <a:srgbClr val="FAFCFD"/>
          </a:solidFill>
          <a:ln w="4445">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069079" y="4261104"/>
            <a:ext cx="3337560" cy="146304"/>
          </a:xfrm>
          <a:prstGeom prst="rect">
            <a:avLst/>
          </a:prstGeom>
          <a:noFill/>
        </p:spPr>
        <p:txBody>
          <a:bodyPr wrap="square" anchor="t">
            <a:spAutoFit/>
          </a:bodyPr>
          <a:lstStyle/>
          <a:p>
            <a:pPr algn="l">
              <a:defRPr sz="840" b="0">
                <a:solidFill>
                  <a:srgbClr val="2D343A"/>
                </a:solidFill>
                <a:latin typeface="Aptos"/>
              </a:defRPr>
            </a:pPr>
            <a:r>
              <a:t>Dec-2022</a:t>
            </a:r>
          </a:p>
        </p:txBody>
      </p:sp>
      <p:sp>
        <p:nvSpPr>
          <p:cNvPr id="66" name="TextBox 65"/>
          <p:cNvSpPr txBox="1"/>
          <p:nvPr/>
        </p:nvSpPr>
        <p:spPr>
          <a:xfrm>
            <a:off x="7589519" y="4261104"/>
            <a:ext cx="3063239" cy="146304"/>
          </a:xfrm>
          <a:prstGeom prst="rect">
            <a:avLst/>
          </a:prstGeom>
          <a:noFill/>
        </p:spPr>
        <p:txBody>
          <a:bodyPr wrap="square" anchor="t">
            <a:spAutoFit/>
          </a:bodyPr>
          <a:lstStyle/>
          <a:p>
            <a:pPr algn="r">
              <a:defRPr sz="840" b="0">
                <a:solidFill>
                  <a:srgbClr val="2D343A"/>
                </a:solidFill>
                <a:latin typeface="Aptos"/>
              </a:defRPr>
            </a:pPr>
            <a:r>
              <a:t>10.54%</a:t>
            </a:r>
          </a:p>
        </p:txBody>
      </p:sp>
      <p:sp>
        <p:nvSpPr>
          <p:cNvPr id="67" name="Rectangle 66"/>
          <p:cNvSpPr/>
          <p:nvPr/>
        </p:nvSpPr>
        <p:spPr>
          <a:xfrm>
            <a:off x="3977639" y="4425696"/>
            <a:ext cx="3520440" cy="265176"/>
          </a:xfrm>
          <a:prstGeom prst="rect">
            <a:avLst/>
          </a:prstGeom>
          <a:solidFill>
            <a:srgbClr val="FFF4EC"/>
          </a:solidFill>
          <a:ln w="8255">
            <a:solidFill>
              <a:srgbClr val="EF7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7498079" y="4425696"/>
            <a:ext cx="3246120" cy="265176"/>
          </a:xfrm>
          <a:prstGeom prst="rect">
            <a:avLst/>
          </a:prstGeom>
          <a:solidFill>
            <a:srgbClr val="FFF4EC"/>
          </a:solidFill>
          <a:ln w="8255">
            <a:solidFill>
              <a:srgbClr val="EF7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069079" y="4466844"/>
            <a:ext cx="3337560" cy="173736"/>
          </a:xfrm>
          <a:prstGeom prst="rect">
            <a:avLst/>
          </a:prstGeom>
          <a:noFill/>
        </p:spPr>
        <p:txBody>
          <a:bodyPr wrap="square" anchor="t">
            <a:spAutoFit/>
          </a:bodyPr>
          <a:lstStyle/>
          <a:p>
            <a:pPr algn="l">
              <a:defRPr sz="919" b="1">
                <a:solidFill>
                  <a:srgbClr val="EF702E"/>
                </a:solidFill>
                <a:latin typeface="Aptos"/>
              </a:defRPr>
            </a:pPr>
            <a:r>
              <a:t>MAPE</a:t>
            </a:r>
          </a:p>
        </p:txBody>
      </p:sp>
      <p:sp>
        <p:nvSpPr>
          <p:cNvPr id="70" name="TextBox 69"/>
          <p:cNvSpPr txBox="1"/>
          <p:nvPr/>
        </p:nvSpPr>
        <p:spPr>
          <a:xfrm>
            <a:off x="7589519" y="4466844"/>
            <a:ext cx="3063239" cy="173736"/>
          </a:xfrm>
          <a:prstGeom prst="rect">
            <a:avLst/>
          </a:prstGeom>
          <a:noFill/>
        </p:spPr>
        <p:txBody>
          <a:bodyPr wrap="square" anchor="t">
            <a:spAutoFit/>
          </a:bodyPr>
          <a:lstStyle/>
          <a:p>
            <a:pPr algn="r">
              <a:defRPr sz="919" b="1">
                <a:solidFill>
                  <a:srgbClr val="EF702E"/>
                </a:solidFill>
                <a:latin typeface="Aptos"/>
              </a:defRPr>
            </a:pPr>
            <a:r>
              <a:t>47.99%</a:t>
            </a:r>
          </a:p>
        </p:txBody>
      </p:sp>
      <p:sp>
        <p:nvSpPr>
          <p:cNvPr id="71" name="TextBox 70"/>
          <p:cNvSpPr txBox="1"/>
          <p:nvPr/>
        </p:nvSpPr>
        <p:spPr>
          <a:xfrm>
            <a:off x="3977639" y="4517136"/>
            <a:ext cx="7132320" cy="201168"/>
          </a:xfrm>
          <a:prstGeom prst="rect">
            <a:avLst/>
          </a:prstGeom>
          <a:noFill/>
        </p:spPr>
        <p:txBody>
          <a:bodyPr wrap="square" anchor="t">
            <a:spAutoFit/>
          </a:bodyPr>
          <a:lstStyle/>
          <a:p>
            <a:pPr algn="ctr">
              <a:defRPr sz="850" b="0">
                <a:solidFill>
                  <a:srgbClr val="5C646C"/>
                </a:solidFill>
                <a:latin typeface="Aptos"/>
              </a:defRPr>
            </a:pPr>
            <a:r>
              <a:t>Absolute percentage error by month (%)</a:t>
            </a:r>
          </a:p>
        </p:txBody>
      </p:sp>
      <p:sp>
        <p:nvSpPr>
          <p:cNvPr id="72" name="Rounded Rectangle 71"/>
          <p:cNvSpPr/>
          <p:nvPr/>
        </p:nvSpPr>
        <p:spPr>
          <a:xfrm>
            <a:off x="621792" y="5230368"/>
            <a:ext cx="10899648" cy="1024128"/>
          </a:xfrm>
          <a:prstGeom prst="roundRect">
            <a:avLst/>
          </a:prstGeom>
          <a:solidFill>
            <a:srgbClr val="EFF6FB"/>
          </a:solidFill>
          <a:ln>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59536" y="5413248"/>
            <a:ext cx="1965960" cy="228600"/>
          </a:xfrm>
          <a:prstGeom prst="rect">
            <a:avLst/>
          </a:prstGeom>
          <a:noFill/>
        </p:spPr>
        <p:txBody>
          <a:bodyPr wrap="square" anchor="t">
            <a:spAutoFit/>
          </a:bodyPr>
          <a:lstStyle/>
          <a:p>
            <a:pPr algn="l">
              <a:defRPr sz="1050" b="1">
                <a:solidFill>
                  <a:srgbClr val="256699"/>
                </a:solidFill>
                <a:latin typeface="Aptos"/>
              </a:defRPr>
            </a:pPr>
            <a:r>
              <a:t>MANAGEMENT RESPONSE</a:t>
            </a:r>
          </a:p>
        </p:txBody>
      </p:sp>
      <p:sp>
        <p:nvSpPr>
          <p:cNvPr id="74" name="TextBox 73"/>
          <p:cNvSpPr txBox="1"/>
          <p:nvPr/>
        </p:nvSpPr>
        <p:spPr>
          <a:xfrm>
            <a:off x="2743200" y="5367528"/>
            <a:ext cx="8412480" cy="640080"/>
          </a:xfrm>
          <a:prstGeom prst="rect">
            <a:avLst/>
          </a:prstGeom>
          <a:noFill/>
        </p:spPr>
        <p:txBody>
          <a:bodyPr wrap="square" anchor="t">
            <a:spAutoFit/>
          </a:bodyPr>
          <a:lstStyle/>
          <a:p>
            <a:pPr algn="l">
              <a:defRPr sz="1050" b="0">
                <a:solidFill>
                  <a:srgbClr val="2D343A"/>
                </a:solidFill>
                <a:latin typeface="Aptos"/>
              </a:defRPr>
            </a:pPr>
            <a:r>
              <a:t>Use scenario ranges rather than one-point commitments.   •   Refresh the model as actuals arrive and track MAPE / bias.   •   Test alternative methods and add more history before high-stakes planning.</a:t>
            </a:r>
          </a:p>
        </p:txBody>
      </p:sp>
      <p:sp>
        <p:nvSpPr>
          <p:cNvPr id="75" name="Rectangle 74"/>
          <p:cNvSpPr/>
          <p:nvPr/>
        </p:nvSpPr>
        <p:spPr>
          <a:xfrm>
            <a:off x="566928" y="6492240"/>
            <a:ext cx="10972800" cy="10972"/>
          </a:xfrm>
          <a:prstGeom prst="rect">
            <a:avLst/>
          </a:prstGeom>
          <a:solidFill>
            <a:srgbClr val="D8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835640" y="6519672"/>
            <a:ext cx="594360" cy="182880"/>
          </a:xfrm>
          <a:prstGeom prst="rect">
            <a:avLst/>
          </a:prstGeom>
          <a:noFill/>
        </p:spPr>
        <p:txBody>
          <a:bodyPr wrap="square" anchor="t">
            <a:spAutoFit/>
          </a:bodyPr>
          <a:lstStyle/>
          <a:p>
            <a:pPr algn="r">
              <a:defRPr sz="850" b="0">
                <a:solidFill>
                  <a:srgbClr val="5C646C"/>
                </a:solidFill>
                <a:latin typeface="Aptos"/>
              </a:defRPr>
            </a:pPr>
            <a:r>
              <a:t>09</a:t>
            </a:r>
          </a:p>
        </p:txBody>
      </p:sp>
    </p:spTree>
  </p:cSld>
  <p:clrMapOvr>
    <a:masterClrMapping/>
  </p:clrMapOvr>
  <mc:AlternateContent xmlns:mc="http://schemas.openxmlformats.org/markup-compatibility/2006" xmlns:p14="http://schemas.microsoft.com/office/powerpoint/2010/main">
    <mc:Choice Requires="p14">
      <p:transition spd="slow" p14:dur="2000" advTm="104404"/>
    </mc:Choice>
    <mc:Fallback xmlns="">
      <p:transition spd="slow" advTm="10440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SWOT Analysis</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Translate analytical findings into strategic management context.</a:t>
            </a:r>
          </a:p>
        </p:txBody>
      </p:sp>
      <p:sp>
        <p:nvSpPr>
          <p:cNvPr id="5" name="Rounded Rectangle 4"/>
          <p:cNvSpPr/>
          <p:nvPr/>
        </p:nvSpPr>
        <p:spPr>
          <a:xfrm>
            <a:off x="640080" y="1325880"/>
            <a:ext cx="5257800" cy="2057400"/>
          </a:xfrm>
          <a:prstGeom prst="round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4671" y="1472184"/>
            <a:ext cx="1325880" cy="384048"/>
          </a:xfrm>
          <a:prstGeom prst="roundRect">
            <a:avLst/>
          </a:prstGeom>
          <a:solidFill>
            <a:srgbClr val="418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490472"/>
            <a:ext cx="1325880" cy="310896"/>
          </a:xfrm>
          <a:prstGeom prst="rect">
            <a:avLst/>
          </a:prstGeom>
          <a:noFill/>
        </p:spPr>
        <p:txBody>
          <a:bodyPr wrap="square" anchor="ctr">
            <a:spAutoFit/>
          </a:bodyPr>
          <a:lstStyle/>
          <a:p>
            <a:pPr algn="ctr">
              <a:defRPr sz="1100" b="1">
                <a:solidFill>
                  <a:srgbClr val="FFFFFF"/>
                </a:solidFill>
                <a:latin typeface="Aptos"/>
              </a:defRPr>
            </a:pPr>
            <a:r>
              <a:t>STRENGTHS</a:t>
            </a:r>
          </a:p>
        </p:txBody>
      </p:sp>
      <p:sp>
        <p:nvSpPr>
          <p:cNvPr id="8" name="TextBox 7"/>
          <p:cNvSpPr txBox="1"/>
          <p:nvPr/>
        </p:nvSpPr>
        <p:spPr>
          <a:xfrm>
            <a:off x="868680" y="1984248"/>
            <a:ext cx="4663440" cy="1234440"/>
          </a:xfrm>
          <a:prstGeom prst="rect">
            <a:avLst/>
          </a:prstGeom>
          <a:noFill/>
        </p:spPr>
        <p:txBody>
          <a:bodyPr wrap="square">
            <a:spAutoFit/>
          </a:bodyPr>
          <a:lstStyle/>
          <a:p>
            <a:pPr>
              <a:spcAft>
                <a:spcPts val="700"/>
              </a:spcAft>
              <a:defRPr sz="1150">
                <a:solidFill>
                  <a:srgbClr val="2D343A"/>
                </a:solidFill>
                <a:latin typeface="Aptos"/>
              </a:defRPr>
            </a:pPr>
            <a:r>
              <a:t>$2.30M historical revenue base</a:t>
            </a:r>
          </a:p>
          <a:p>
            <a:pPr>
              <a:spcAft>
                <a:spcPts val="700"/>
              </a:spcAft>
              <a:defRPr sz="1150">
                <a:solidFill>
                  <a:srgbClr val="2D343A"/>
                </a:solidFill>
                <a:latin typeface="Aptos"/>
              </a:defRPr>
            </a:pPr>
            <a:r>
              <a:t>Positive $286K profit</a:t>
            </a:r>
          </a:p>
          <a:p>
            <a:pPr>
              <a:spcAft>
                <a:spcPts val="700"/>
              </a:spcAft>
              <a:defRPr sz="1150">
                <a:solidFill>
                  <a:srgbClr val="2D343A"/>
                </a:solidFill>
                <a:latin typeface="Aptos"/>
              </a:defRPr>
            </a:pPr>
            <a:r>
              <a:t>Technology category leadership</a:t>
            </a:r>
          </a:p>
          <a:p>
            <a:pPr>
              <a:spcAft>
                <a:spcPts val="700"/>
              </a:spcAft>
              <a:defRPr sz="1150">
                <a:solidFill>
                  <a:srgbClr val="2D343A"/>
                </a:solidFill>
                <a:latin typeface="Aptos"/>
              </a:defRPr>
            </a:pPr>
            <a:r>
              <a:t>Strong West-region contribution</a:t>
            </a:r>
          </a:p>
        </p:txBody>
      </p:sp>
      <p:sp>
        <p:nvSpPr>
          <p:cNvPr id="9" name="Rounded Rectangle 8"/>
          <p:cNvSpPr/>
          <p:nvPr/>
        </p:nvSpPr>
        <p:spPr>
          <a:xfrm>
            <a:off x="6263640" y="1325880"/>
            <a:ext cx="5257800" cy="2057400"/>
          </a:xfrm>
          <a:prstGeom prst="round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28232" y="1472184"/>
            <a:ext cx="1325880" cy="384048"/>
          </a:xfrm>
          <a:prstGeom prst="roundRect">
            <a:avLst/>
          </a:prstGeom>
          <a:solidFill>
            <a:srgbClr val="EF7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2" y="1490472"/>
            <a:ext cx="1325880" cy="310896"/>
          </a:xfrm>
          <a:prstGeom prst="rect">
            <a:avLst/>
          </a:prstGeom>
          <a:noFill/>
        </p:spPr>
        <p:txBody>
          <a:bodyPr wrap="square" anchor="ctr">
            <a:spAutoFit/>
          </a:bodyPr>
          <a:lstStyle/>
          <a:p>
            <a:pPr algn="ctr">
              <a:defRPr sz="1100" b="1">
                <a:solidFill>
                  <a:srgbClr val="FFFFFF"/>
                </a:solidFill>
                <a:latin typeface="Aptos"/>
              </a:defRPr>
            </a:pPr>
            <a:r>
              <a:t>WEAKNESSES</a:t>
            </a:r>
          </a:p>
        </p:txBody>
      </p:sp>
      <p:sp>
        <p:nvSpPr>
          <p:cNvPr id="12" name="TextBox 11"/>
          <p:cNvSpPr txBox="1"/>
          <p:nvPr/>
        </p:nvSpPr>
        <p:spPr>
          <a:xfrm>
            <a:off x="6492240" y="1984248"/>
            <a:ext cx="4663440" cy="1234440"/>
          </a:xfrm>
          <a:prstGeom prst="rect">
            <a:avLst/>
          </a:prstGeom>
          <a:noFill/>
        </p:spPr>
        <p:txBody>
          <a:bodyPr wrap="square">
            <a:spAutoFit/>
          </a:bodyPr>
          <a:lstStyle/>
          <a:p>
            <a:pPr>
              <a:spcAft>
                <a:spcPts val="700"/>
              </a:spcAft>
              <a:defRPr sz="1150">
                <a:solidFill>
                  <a:srgbClr val="2D343A"/>
                </a:solidFill>
                <a:latin typeface="Aptos"/>
              </a:defRPr>
            </a:pPr>
            <a:r>
              <a:t>Furniture profitability gap</a:t>
            </a:r>
          </a:p>
          <a:p>
            <a:pPr>
              <a:spcAft>
                <a:spcPts val="700"/>
              </a:spcAft>
              <a:defRPr sz="1150">
                <a:solidFill>
                  <a:srgbClr val="2D343A"/>
                </a:solidFill>
                <a:latin typeface="Aptos"/>
              </a:defRPr>
            </a:pPr>
            <a:r>
              <a:t>Revenue volatility</a:t>
            </a:r>
          </a:p>
          <a:p>
            <a:pPr>
              <a:spcAft>
                <a:spcPts val="700"/>
              </a:spcAft>
              <a:defRPr sz="1150">
                <a:solidFill>
                  <a:srgbClr val="2D343A"/>
                </a:solidFill>
                <a:latin typeface="Aptos"/>
              </a:defRPr>
            </a:pPr>
            <a:r>
              <a:t>47.99% forecast backtest MAPE</a:t>
            </a:r>
          </a:p>
          <a:p>
            <a:pPr>
              <a:spcAft>
                <a:spcPts val="700"/>
              </a:spcAft>
              <a:defRPr sz="1150">
                <a:solidFill>
                  <a:srgbClr val="2D343A"/>
                </a:solidFill>
                <a:latin typeface="Aptos"/>
              </a:defRPr>
            </a:pPr>
            <a:r>
              <a:t>Uneven category contribution</a:t>
            </a:r>
          </a:p>
        </p:txBody>
      </p:sp>
      <p:sp>
        <p:nvSpPr>
          <p:cNvPr id="13" name="Rounded Rectangle 12"/>
          <p:cNvSpPr/>
          <p:nvPr/>
        </p:nvSpPr>
        <p:spPr>
          <a:xfrm>
            <a:off x="640080" y="3749039"/>
            <a:ext cx="5257800" cy="2057400"/>
          </a:xfrm>
          <a:prstGeom prst="round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4671" y="3895344"/>
            <a:ext cx="1325880" cy="384048"/>
          </a:xfrm>
          <a:prstGeom prst="roundRect">
            <a:avLst/>
          </a:prstGeom>
          <a:solidFill>
            <a:srgbClr val="25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1" y="3913631"/>
            <a:ext cx="1325880" cy="310896"/>
          </a:xfrm>
          <a:prstGeom prst="rect">
            <a:avLst/>
          </a:prstGeom>
          <a:noFill/>
        </p:spPr>
        <p:txBody>
          <a:bodyPr wrap="square" anchor="ctr">
            <a:spAutoFit/>
          </a:bodyPr>
          <a:lstStyle/>
          <a:p>
            <a:pPr algn="ctr">
              <a:defRPr sz="1100" b="1">
                <a:solidFill>
                  <a:srgbClr val="FFFFFF"/>
                </a:solidFill>
                <a:latin typeface="Aptos"/>
              </a:defRPr>
            </a:pPr>
            <a:r>
              <a:t>OPPORTUNITIES</a:t>
            </a:r>
          </a:p>
        </p:txBody>
      </p:sp>
      <p:sp>
        <p:nvSpPr>
          <p:cNvPr id="16" name="TextBox 15"/>
          <p:cNvSpPr txBox="1"/>
          <p:nvPr/>
        </p:nvSpPr>
        <p:spPr>
          <a:xfrm>
            <a:off x="868680" y="4407407"/>
            <a:ext cx="4663440" cy="1234440"/>
          </a:xfrm>
          <a:prstGeom prst="rect">
            <a:avLst/>
          </a:prstGeom>
          <a:noFill/>
        </p:spPr>
        <p:txBody>
          <a:bodyPr wrap="square">
            <a:spAutoFit/>
          </a:bodyPr>
          <a:lstStyle/>
          <a:p>
            <a:pPr>
              <a:spcAft>
                <a:spcPts val="700"/>
              </a:spcAft>
              <a:defRPr sz="1150">
                <a:solidFill>
                  <a:srgbClr val="2D343A"/>
                </a:solidFill>
                <a:latin typeface="Aptos"/>
              </a:defRPr>
            </a:pPr>
            <a:r>
              <a:t>Improve Furniture margin</a:t>
            </a:r>
          </a:p>
          <a:p>
            <a:pPr>
              <a:spcAft>
                <a:spcPts val="700"/>
              </a:spcAft>
              <a:defRPr sz="1150">
                <a:solidFill>
                  <a:srgbClr val="2D343A"/>
                </a:solidFill>
                <a:latin typeface="Aptos"/>
              </a:defRPr>
            </a:pPr>
            <a:r>
              <a:t>Expand high-performing Technology</a:t>
            </a:r>
          </a:p>
          <a:p>
            <a:pPr>
              <a:spcAft>
                <a:spcPts val="700"/>
              </a:spcAft>
              <a:defRPr sz="1150">
                <a:solidFill>
                  <a:srgbClr val="2D343A"/>
                </a:solidFill>
                <a:latin typeface="Aptos"/>
              </a:defRPr>
            </a:pPr>
            <a:r>
              <a:t>Develop account-level growth actions</a:t>
            </a:r>
          </a:p>
          <a:p>
            <a:pPr>
              <a:spcAft>
                <a:spcPts val="700"/>
              </a:spcAft>
              <a:defRPr sz="1150">
                <a:solidFill>
                  <a:srgbClr val="2D343A"/>
                </a:solidFill>
                <a:latin typeface="Aptos"/>
              </a:defRPr>
            </a:pPr>
            <a:r>
              <a:t>Refine forecasting and monitoring</a:t>
            </a:r>
          </a:p>
        </p:txBody>
      </p:sp>
      <p:sp>
        <p:nvSpPr>
          <p:cNvPr id="17" name="Rounded Rectangle 16"/>
          <p:cNvSpPr/>
          <p:nvPr/>
        </p:nvSpPr>
        <p:spPr>
          <a:xfrm>
            <a:off x="6263640" y="3749039"/>
            <a:ext cx="5257800" cy="2057400"/>
          </a:xfrm>
          <a:prstGeom prst="round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28232" y="3895344"/>
            <a:ext cx="1325880" cy="384048"/>
          </a:xfrm>
          <a:prstGeom prst="roundRect">
            <a:avLst/>
          </a:prstGeom>
          <a:solidFill>
            <a:srgbClr val="BE4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28232" y="3913631"/>
            <a:ext cx="1325880" cy="310896"/>
          </a:xfrm>
          <a:prstGeom prst="rect">
            <a:avLst/>
          </a:prstGeom>
          <a:noFill/>
        </p:spPr>
        <p:txBody>
          <a:bodyPr wrap="square" anchor="ctr">
            <a:spAutoFit/>
          </a:bodyPr>
          <a:lstStyle/>
          <a:p>
            <a:pPr algn="ctr">
              <a:defRPr sz="1100" b="1">
                <a:solidFill>
                  <a:srgbClr val="FFFFFF"/>
                </a:solidFill>
                <a:latin typeface="Aptos"/>
              </a:defRPr>
            </a:pPr>
            <a:r>
              <a:t>THREATS</a:t>
            </a:r>
          </a:p>
        </p:txBody>
      </p:sp>
      <p:sp>
        <p:nvSpPr>
          <p:cNvPr id="20" name="TextBox 19"/>
          <p:cNvSpPr txBox="1"/>
          <p:nvPr/>
        </p:nvSpPr>
        <p:spPr>
          <a:xfrm>
            <a:off x="6492240" y="4407407"/>
            <a:ext cx="4663440" cy="1234440"/>
          </a:xfrm>
          <a:prstGeom prst="rect">
            <a:avLst/>
          </a:prstGeom>
          <a:noFill/>
        </p:spPr>
        <p:txBody>
          <a:bodyPr wrap="square">
            <a:spAutoFit/>
          </a:bodyPr>
          <a:lstStyle/>
          <a:p>
            <a:pPr>
              <a:spcAft>
                <a:spcPts val="700"/>
              </a:spcAft>
              <a:defRPr sz="1150">
                <a:solidFill>
                  <a:srgbClr val="2D343A"/>
                </a:solidFill>
                <a:latin typeface="Aptos"/>
              </a:defRPr>
            </a:pPr>
            <a:r>
              <a:t>Forecast error affecting resource decisions</a:t>
            </a:r>
          </a:p>
          <a:p>
            <a:pPr>
              <a:spcAft>
                <a:spcPts val="700"/>
              </a:spcAft>
              <a:defRPr sz="1150">
                <a:solidFill>
                  <a:srgbClr val="2D343A"/>
                </a:solidFill>
                <a:latin typeface="Aptos"/>
              </a:defRPr>
            </a:pPr>
            <a:r>
              <a:t>Margin erosion despite sales growth</a:t>
            </a:r>
          </a:p>
          <a:p>
            <a:pPr>
              <a:spcAft>
                <a:spcPts val="700"/>
              </a:spcAft>
              <a:defRPr sz="1150">
                <a:solidFill>
                  <a:srgbClr val="2D343A"/>
                </a:solidFill>
                <a:latin typeface="Aptos"/>
              </a:defRPr>
            </a:pPr>
            <a:r>
              <a:t>Customer/category concentration</a:t>
            </a:r>
          </a:p>
          <a:p>
            <a:pPr>
              <a:spcAft>
                <a:spcPts val="700"/>
              </a:spcAft>
              <a:defRPr sz="1150">
                <a:solidFill>
                  <a:srgbClr val="2D343A"/>
                </a:solidFill>
                <a:latin typeface="Aptos"/>
              </a:defRPr>
            </a:pPr>
            <a:r>
              <a:t>Hidden operational inefficiencies</a:t>
            </a:r>
          </a:p>
        </p:txBody>
      </p:sp>
      <p:sp>
        <p:nvSpPr>
          <p:cNvPr id="21" name="TextBox 20"/>
          <p:cNvSpPr txBox="1"/>
          <p:nvPr/>
        </p:nvSpPr>
        <p:spPr>
          <a:xfrm>
            <a:off x="658368" y="6126480"/>
            <a:ext cx="10972800" cy="228600"/>
          </a:xfrm>
          <a:prstGeom prst="rect">
            <a:avLst/>
          </a:prstGeom>
          <a:noFill/>
        </p:spPr>
        <p:txBody>
          <a:bodyPr wrap="square" anchor="t">
            <a:spAutoFit/>
          </a:bodyPr>
          <a:lstStyle/>
          <a:p>
            <a:pPr algn="l">
              <a:defRPr sz="1100" b="0">
                <a:solidFill>
                  <a:srgbClr val="5C646C"/>
                </a:solidFill>
                <a:latin typeface="Aptos"/>
              </a:defRPr>
            </a:pPr>
            <a:r>
              <a:t>SWOT is a strategic interpretation of the evidence—not proof of causal relationships.</a:t>
            </a:r>
          </a:p>
        </p:txBody>
      </p:sp>
      <p:sp>
        <p:nvSpPr>
          <p:cNvPr id="22" name="Rectangle 21"/>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10</a:t>
            </a:r>
          </a:p>
        </p:txBody>
      </p:sp>
    </p:spTree>
  </p:cSld>
  <p:clrMapOvr>
    <a:masterClrMapping/>
  </p:clrMapOvr>
  <mc:AlternateContent xmlns:mc="http://schemas.openxmlformats.org/markup-compatibility/2006" xmlns:p14="http://schemas.microsoft.com/office/powerpoint/2010/main">
    <mc:Choice Requires="p14">
      <p:transition spd="slow" p14:dur="2000" advTm="77048"/>
    </mc:Choice>
    <mc:Fallback xmlns="">
      <p:transition spd="slow" advTm="7704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2D343A"/>
                </a:solidFill>
                <a:latin typeface="Aptos Display"/>
              </a:defRPr>
            </a:pPr>
            <a:r>
              <a:t>Recommendations &amp; Corrective Actions</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5C646C"/>
                </a:solidFill>
                <a:latin typeface="Aptos"/>
              </a:defRPr>
            </a:pPr>
            <a:r>
              <a:t>Convert diagnosed risks into targeted management actions and measurable KPIs.</a:t>
            </a:r>
          </a:p>
        </p:txBody>
      </p:sp>
      <p:sp>
        <p:nvSpPr>
          <p:cNvPr id="5" name="Rectangle 4"/>
          <p:cNvSpPr/>
          <p:nvPr/>
        </p:nvSpPr>
        <p:spPr>
          <a:xfrm>
            <a:off x="594360" y="1280160"/>
            <a:ext cx="2103120" cy="50292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371600"/>
            <a:ext cx="2103120" cy="256032"/>
          </a:xfrm>
          <a:prstGeom prst="rect">
            <a:avLst/>
          </a:prstGeom>
          <a:noFill/>
        </p:spPr>
        <p:txBody>
          <a:bodyPr wrap="square" anchor="t">
            <a:spAutoFit/>
          </a:bodyPr>
          <a:lstStyle/>
          <a:p>
            <a:pPr algn="ctr">
              <a:defRPr sz="1050" b="1">
                <a:solidFill>
                  <a:srgbClr val="FFFFFF"/>
                </a:solidFill>
                <a:latin typeface="Aptos"/>
              </a:defRPr>
            </a:pPr>
            <a:r>
              <a:t>PRIORITY</a:t>
            </a:r>
          </a:p>
        </p:txBody>
      </p:sp>
      <p:sp>
        <p:nvSpPr>
          <p:cNvPr id="7" name="Rectangle 6"/>
          <p:cNvSpPr/>
          <p:nvPr/>
        </p:nvSpPr>
        <p:spPr>
          <a:xfrm>
            <a:off x="2880360" y="1280160"/>
            <a:ext cx="5394960" cy="50292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80360" y="1371600"/>
            <a:ext cx="5394960" cy="256032"/>
          </a:xfrm>
          <a:prstGeom prst="rect">
            <a:avLst/>
          </a:prstGeom>
          <a:noFill/>
        </p:spPr>
        <p:txBody>
          <a:bodyPr wrap="square" anchor="t">
            <a:spAutoFit/>
          </a:bodyPr>
          <a:lstStyle/>
          <a:p>
            <a:pPr algn="ctr">
              <a:defRPr sz="1050" b="1">
                <a:solidFill>
                  <a:srgbClr val="FFFFFF"/>
                </a:solidFill>
                <a:latin typeface="Aptos"/>
              </a:defRPr>
            </a:pPr>
            <a:r>
              <a:t>CORRECTIVE ACTION</a:t>
            </a:r>
          </a:p>
        </p:txBody>
      </p:sp>
      <p:sp>
        <p:nvSpPr>
          <p:cNvPr id="9" name="Rectangle 8"/>
          <p:cNvSpPr/>
          <p:nvPr/>
        </p:nvSpPr>
        <p:spPr>
          <a:xfrm>
            <a:off x="8458200" y="1280160"/>
            <a:ext cx="3108960" cy="50292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58200" y="1371600"/>
            <a:ext cx="3108960" cy="256032"/>
          </a:xfrm>
          <a:prstGeom prst="rect">
            <a:avLst/>
          </a:prstGeom>
          <a:noFill/>
        </p:spPr>
        <p:txBody>
          <a:bodyPr wrap="square" anchor="t">
            <a:spAutoFit/>
          </a:bodyPr>
          <a:lstStyle/>
          <a:p>
            <a:pPr algn="ctr">
              <a:defRPr sz="1050" b="1">
                <a:solidFill>
                  <a:srgbClr val="FFFFFF"/>
                </a:solidFill>
                <a:latin typeface="Aptos"/>
              </a:defRPr>
            </a:pPr>
            <a:r>
              <a:t>MANAGEMENT KPI</a:t>
            </a:r>
          </a:p>
        </p:txBody>
      </p:sp>
      <p:sp>
        <p:nvSpPr>
          <p:cNvPr id="11" name="Rectangle 10"/>
          <p:cNvSpPr/>
          <p:nvPr/>
        </p:nvSpPr>
        <p:spPr>
          <a:xfrm>
            <a:off x="594360" y="1847088"/>
            <a:ext cx="210312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1920240"/>
            <a:ext cx="1956815" cy="566928"/>
          </a:xfrm>
          <a:prstGeom prst="rect">
            <a:avLst/>
          </a:prstGeom>
          <a:noFill/>
        </p:spPr>
        <p:txBody>
          <a:bodyPr wrap="square" anchor="t">
            <a:spAutoFit/>
          </a:bodyPr>
          <a:lstStyle/>
          <a:p>
            <a:pPr algn="l">
              <a:defRPr sz="1050" b="1">
                <a:solidFill>
                  <a:srgbClr val="2D343A"/>
                </a:solidFill>
                <a:latin typeface="Aptos"/>
              </a:defRPr>
            </a:pPr>
            <a:r>
              <a:t>Furniture margin</a:t>
            </a:r>
          </a:p>
        </p:txBody>
      </p:sp>
      <p:sp>
        <p:nvSpPr>
          <p:cNvPr id="13" name="Rectangle 12"/>
          <p:cNvSpPr/>
          <p:nvPr/>
        </p:nvSpPr>
        <p:spPr>
          <a:xfrm>
            <a:off x="2880360" y="1847088"/>
            <a:ext cx="539496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53512" y="1920240"/>
            <a:ext cx="5248656" cy="566928"/>
          </a:xfrm>
          <a:prstGeom prst="rect">
            <a:avLst/>
          </a:prstGeom>
          <a:noFill/>
        </p:spPr>
        <p:txBody>
          <a:bodyPr wrap="square" anchor="t">
            <a:spAutoFit/>
          </a:bodyPr>
          <a:lstStyle/>
          <a:p>
            <a:pPr algn="l">
              <a:defRPr sz="1050" b="0">
                <a:solidFill>
                  <a:srgbClr val="2D343A"/>
                </a:solidFill>
                <a:latin typeface="Aptos"/>
              </a:defRPr>
            </a:pPr>
            <a:r>
              <a:t>Diagnose margin by subcategory/SKU, discount, customer and region; review pricing/discount controls.</a:t>
            </a:r>
          </a:p>
        </p:txBody>
      </p:sp>
      <p:sp>
        <p:nvSpPr>
          <p:cNvPr id="15" name="Rectangle 14"/>
          <p:cNvSpPr/>
          <p:nvPr/>
        </p:nvSpPr>
        <p:spPr>
          <a:xfrm>
            <a:off x="8458200" y="1847088"/>
            <a:ext cx="310896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31352" y="1920240"/>
            <a:ext cx="2962656" cy="566928"/>
          </a:xfrm>
          <a:prstGeom prst="rect">
            <a:avLst/>
          </a:prstGeom>
          <a:noFill/>
        </p:spPr>
        <p:txBody>
          <a:bodyPr wrap="square" anchor="t">
            <a:spAutoFit/>
          </a:bodyPr>
          <a:lstStyle/>
          <a:p>
            <a:pPr algn="l">
              <a:defRPr sz="1050" b="0">
                <a:solidFill>
                  <a:srgbClr val="2D343A"/>
                </a:solidFill>
                <a:latin typeface="Aptos"/>
              </a:defRPr>
            </a:pPr>
            <a:r>
              <a:t>Profit margin by product</a:t>
            </a:r>
          </a:p>
        </p:txBody>
      </p:sp>
      <p:sp>
        <p:nvSpPr>
          <p:cNvPr id="17" name="Rectangle 16"/>
          <p:cNvSpPr/>
          <p:nvPr/>
        </p:nvSpPr>
        <p:spPr>
          <a:xfrm>
            <a:off x="594360" y="2651760"/>
            <a:ext cx="2103120" cy="713232"/>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2724912"/>
            <a:ext cx="1956815" cy="566928"/>
          </a:xfrm>
          <a:prstGeom prst="rect">
            <a:avLst/>
          </a:prstGeom>
          <a:noFill/>
        </p:spPr>
        <p:txBody>
          <a:bodyPr wrap="square" anchor="t">
            <a:spAutoFit/>
          </a:bodyPr>
          <a:lstStyle/>
          <a:p>
            <a:pPr algn="l">
              <a:defRPr sz="1050" b="1">
                <a:solidFill>
                  <a:srgbClr val="2D343A"/>
                </a:solidFill>
                <a:latin typeface="Aptos"/>
              </a:defRPr>
            </a:pPr>
            <a:r>
              <a:t>Revenue concentration</a:t>
            </a:r>
          </a:p>
        </p:txBody>
      </p:sp>
      <p:sp>
        <p:nvSpPr>
          <p:cNvPr id="19" name="Rectangle 18"/>
          <p:cNvSpPr/>
          <p:nvPr/>
        </p:nvSpPr>
        <p:spPr>
          <a:xfrm>
            <a:off x="2880360" y="2651760"/>
            <a:ext cx="5394960" cy="713232"/>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53512" y="2724912"/>
            <a:ext cx="5248656" cy="566928"/>
          </a:xfrm>
          <a:prstGeom prst="rect">
            <a:avLst/>
          </a:prstGeom>
          <a:noFill/>
        </p:spPr>
        <p:txBody>
          <a:bodyPr wrap="square" anchor="t">
            <a:spAutoFit/>
          </a:bodyPr>
          <a:lstStyle/>
          <a:p>
            <a:pPr algn="l">
              <a:defRPr sz="1050" b="0">
                <a:solidFill>
                  <a:srgbClr val="2D343A"/>
                </a:solidFill>
                <a:latin typeface="Aptos"/>
              </a:defRPr>
            </a:pPr>
            <a:r>
              <a:t>Monitor segment/account/category concentration and identify profitable diversification opportunities.</a:t>
            </a:r>
          </a:p>
        </p:txBody>
      </p:sp>
      <p:sp>
        <p:nvSpPr>
          <p:cNvPr id="21" name="Rectangle 20"/>
          <p:cNvSpPr/>
          <p:nvPr/>
        </p:nvSpPr>
        <p:spPr>
          <a:xfrm>
            <a:off x="8458200" y="2651760"/>
            <a:ext cx="3108960" cy="713232"/>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31352" y="2724912"/>
            <a:ext cx="2962656" cy="566928"/>
          </a:xfrm>
          <a:prstGeom prst="rect">
            <a:avLst/>
          </a:prstGeom>
          <a:noFill/>
        </p:spPr>
        <p:txBody>
          <a:bodyPr wrap="square" anchor="t">
            <a:spAutoFit/>
          </a:bodyPr>
          <a:lstStyle/>
          <a:p>
            <a:pPr algn="l">
              <a:defRPr sz="1050" b="0">
                <a:solidFill>
                  <a:srgbClr val="2D343A"/>
                </a:solidFill>
                <a:latin typeface="Aptos"/>
              </a:defRPr>
            </a:pPr>
            <a:r>
              <a:t>Revenue &amp; profit concentration</a:t>
            </a:r>
          </a:p>
        </p:txBody>
      </p:sp>
      <p:sp>
        <p:nvSpPr>
          <p:cNvPr id="23" name="Rectangle 22"/>
          <p:cNvSpPr/>
          <p:nvPr/>
        </p:nvSpPr>
        <p:spPr>
          <a:xfrm>
            <a:off x="594360" y="3456432"/>
            <a:ext cx="210312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 y="3529584"/>
            <a:ext cx="1956815" cy="566928"/>
          </a:xfrm>
          <a:prstGeom prst="rect">
            <a:avLst/>
          </a:prstGeom>
          <a:noFill/>
        </p:spPr>
        <p:txBody>
          <a:bodyPr wrap="square" anchor="t">
            <a:spAutoFit/>
          </a:bodyPr>
          <a:lstStyle/>
          <a:p>
            <a:pPr algn="l">
              <a:defRPr sz="1050" b="1">
                <a:solidFill>
                  <a:srgbClr val="2D343A"/>
                </a:solidFill>
                <a:latin typeface="Aptos"/>
              </a:defRPr>
            </a:pPr>
            <a:r>
              <a:t>Regional + shipping</a:t>
            </a:r>
          </a:p>
        </p:txBody>
      </p:sp>
      <p:sp>
        <p:nvSpPr>
          <p:cNvPr id="25" name="Rectangle 24"/>
          <p:cNvSpPr/>
          <p:nvPr/>
        </p:nvSpPr>
        <p:spPr>
          <a:xfrm>
            <a:off x="2880360" y="3456432"/>
            <a:ext cx="539496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53512" y="3529584"/>
            <a:ext cx="5248656" cy="566928"/>
          </a:xfrm>
          <a:prstGeom prst="rect">
            <a:avLst/>
          </a:prstGeom>
          <a:noFill/>
        </p:spPr>
        <p:txBody>
          <a:bodyPr wrap="square" anchor="t">
            <a:spAutoFit/>
          </a:bodyPr>
          <a:lstStyle/>
          <a:p>
            <a:pPr algn="l">
              <a:defRPr sz="1050" b="0">
                <a:solidFill>
                  <a:srgbClr val="2D343A"/>
                </a:solidFill>
                <a:latin typeface="Aptos"/>
              </a:defRPr>
            </a:pPr>
            <a:r>
              <a:t>Protect strong regions while testing whether shipping differences persist by period, mode and product mix.</a:t>
            </a:r>
          </a:p>
        </p:txBody>
      </p:sp>
      <p:sp>
        <p:nvSpPr>
          <p:cNvPr id="27" name="Rectangle 26"/>
          <p:cNvSpPr/>
          <p:nvPr/>
        </p:nvSpPr>
        <p:spPr>
          <a:xfrm>
            <a:off x="8458200" y="3456432"/>
            <a:ext cx="310896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31352" y="3529584"/>
            <a:ext cx="2962656" cy="566928"/>
          </a:xfrm>
          <a:prstGeom prst="rect">
            <a:avLst/>
          </a:prstGeom>
          <a:noFill/>
        </p:spPr>
        <p:txBody>
          <a:bodyPr wrap="square" anchor="t">
            <a:spAutoFit/>
          </a:bodyPr>
          <a:lstStyle/>
          <a:p>
            <a:pPr algn="l">
              <a:defRPr sz="1050" b="0">
                <a:solidFill>
                  <a:srgbClr val="2D343A"/>
                </a:solidFill>
                <a:latin typeface="Aptos"/>
              </a:defRPr>
            </a:pPr>
            <a:r>
              <a:t>Regional growth + shipping days</a:t>
            </a:r>
          </a:p>
        </p:txBody>
      </p:sp>
      <p:sp>
        <p:nvSpPr>
          <p:cNvPr id="29" name="Rectangle 28"/>
          <p:cNvSpPr/>
          <p:nvPr/>
        </p:nvSpPr>
        <p:spPr>
          <a:xfrm>
            <a:off x="594360" y="4261104"/>
            <a:ext cx="2103120" cy="713232"/>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 y="4334256"/>
            <a:ext cx="1956815" cy="566928"/>
          </a:xfrm>
          <a:prstGeom prst="rect">
            <a:avLst/>
          </a:prstGeom>
          <a:noFill/>
        </p:spPr>
        <p:txBody>
          <a:bodyPr wrap="square" anchor="t">
            <a:spAutoFit/>
          </a:bodyPr>
          <a:lstStyle/>
          <a:p>
            <a:pPr algn="l">
              <a:defRPr sz="1050" b="1">
                <a:solidFill>
                  <a:srgbClr val="2D343A"/>
                </a:solidFill>
                <a:latin typeface="Aptos"/>
              </a:defRPr>
            </a:pPr>
            <a:r>
              <a:t>Forecast reliability</a:t>
            </a:r>
          </a:p>
        </p:txBody>
      </p:sp>
      <p:sp>
        <p:nvSpPr>
          <p:cNvPr id="31" name="Rectangle 30"/>
          <p:cNvSpPr/>
          <p:nvPr/>
        </p:nvSpPr>
        <p:spPr>
          <a:xfrm>
            <a:off x="2880360" y="4261104"/>
            <a:ext cx="5394960" cy="713232"/>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53512" y="4334256"/>
            <a:ext cx="5248656" cy="566928"/>
          </a:xfrm>
          <a:prstGeom prst="rect">
            <a:avLst/>
          </a:prstGeom>
          <a:noFill/>
        </p:spPr>
        <p:txBody>
          <a:bodyPr wrap="square" anchor="t">
            <a:spAutoFit/>
          </a:bodyPr>
          <a:lstStyle/>
          <a:p>
            <a:pPr algn="l">
              <a:defRPr sz="1050" b="0">
                <a:solidFill>
                  <a:srgbClr val="2D343A"/>
                </a:solidFill>
                <a:latin typeface="Aptos"/>
              </a:defRPr>
            </a:pPr>
            <a:r>
              <a:t>Extend history, compare methods, track forecast error and refresh the model routinely.</a:t>
            </a:r>
          </a:p>
        </p:txBody>
      </p:sp>
      <p:sp>
        <p:nvSpPr>
          <p:cNvPr id="33" name="Rectangle 32"/>
          <p:cNvSpPr/>
          <p:nvPr/>
        </p:nvSpPr>
        <p:spPr>
          <a:xfrm>
            <a:off x="8458200" y="4261104"/>
            <a:ext cx="3108960" cy="713232"/>
          </a:xfrm>
          <a:prstGeom prst="rect">
            <a:avLst/>
          </a:prstGeom>
          <a:solidFill>
            <a:srgbClr val="F4F7F9"/>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31352" y="4334256"/>
            <a:ext cx="2962656" cy="566928"/>
          </a:xfrm>
          <a:prstGeom prst="rect">
            <a:avLst/>
          </a:prstGeom>
          <a:noFill/>
        </p:spPr>
        <p:txBody>
          <a:bodyPr wrap="square" anchor="t">
            <a:spAutoFit/>
          </a:bodyPr>
          <a:lstStyle/>
          <a:p>
            <a:pPr algn="l">
              <a:defRPr sz="1050" b="0">
                <a:solidFill>
                  <a:srgbClr val="2D343A"/>
                </a:solidFill>
                <a:latin typeface="Aptos"/>
              </a:defRPr>
            </a:pPr>
            <a:r>
              <a:t>MAPE • bias • variance</a:t>
            </a:r>
          </a:p>
        </p:txBody>
      </p:sp>
      <p:sp>
        <p:nvSpPr>
          <p:cNvPr id="35" name="Rectangle 34"/>
          <p:cNvSpPr/>
          <p:nvPr/>
        </p:nvSpPr>
        <p:spPr>
          <a:xfrm>
            <a:off x="594360" y="5065776"/>
            <a:ext cx="210312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 y="5138928"/>
            <a:ext cx="1956815" cy="566928"/>
          </a:xfrm>
          <a:prstGeom prst="rect">
            <a:avLst/>
          </a:prstGeom>
          <a:noFill/>
        </p:spPr>
        <p:txBody>
          <a:bodyPr wrap="square" anchor="t">
            <a:spAutoFit/>
          </a:bodyPr>
          <a:lstStyle/>
          <a:p>
            <a:pPr algn="l">
              <a:defRPr sz="1050" b="1">
                <a:solidFill>
                  <a:srgbClr val="2D343A"/>
                </a:solidFill>
                <a:latin typeface="Aptos"/>
              </a:defRPr>
            </a:pPr>
            <a:r>
              <a:t>Management reporting</a:t>
            </a:r>
          </a:p>
        </p:txBody>
      </p:sp>
      <p:sp>
        <p:nvSpPr>
          <p:cNvPr id="37" name="Rectangle 36"/>
          <p:cNvSpPr/>
          <p:nvPr/>
        </p:nvSpPr>
        <p:spPr>
          <a:xfrm>
            <a:off x="2880360" y="5065776"/>
            <a:ext cx="539496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953512" y="5138928"/>
            <a:ext cx="5248656" cy="566928"/>
          </a:xfrm>
          <a:prstGeom prst="rect">
            <a:avLst/>
          </a:prstGeom>
          <a:noFill/>
        </p:spPr>
        <p:txBody>
          <a:bodyPr wrap="square" anchor="t">
            <a:spAutoFit/>
          </a:bodyPr>
          <a:lstStyle/>
          <a:p>
            <a:pPr algn="l">
              <a:defRPr sz="1050" b="0">
                <a:solidFill>
                  <a:srgbClr val="2D343A"/>
                </a:solidFill>
                <a:latin typeface="Aptos"/>
              </a:defRPr>
            </a:pPr>
            <a:r>
              <a:t>Use the dashboard as a recurring exception-monitoring and decision-support tool.</a:t>
            </a:r>
          </a:p>
        </p:txBody>
      </p:sp>
      <p:sp>
        <p:nvSpPr>
          <p:cNvPr id="39" name="Rectangle 38"/>
          <p:cNvSpPr/>
          <p:nvPr/>
        </p:nvSpPr>
        <p:spPr>
          <a:xfrm>
            <a:off x="8458200" y="5065776"/>
            <a:ext cx="3108960" cy="713232"/>
          </a:xfrm>
          <a:prstGeom prst="rect">
            <a:avLst/>
          </a:prstGeom>
          <a:solidFill>
            <a:srgbClr val="FFFFFF"/>
          </a:solidFill>
          <a:ln>
            <a:solidFill>
              <a:srgbClr val="DC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31352" y="5138928"/>
            <a:ext cx="2962656" cy="566928"/>
          </a:xfrm>
          <a:prstGeom prst="rect">
            <a:avLst/>
          </a:prstGeom>
          <a:noFill/>
        </p:spPr>
        <p:txBody>
          <a:bodyPr wrap="square" anchor="t">
            <a:spAutoFit/>
          </a:bodyPr>
          <a:lstStyle/>
          <a:p>
            <a:pPr algn="l">
              <a:defRPr sz="1050" b="0">
                <a:solidFill>
                  <a:srgbClr val="2D343A"/>
                </a:solidFill>
                <a:latin typeface="Aptos"/>
              </a:defRPr>
            </a:pPr>
            <a:r>
              <a:t>Monthly KPI variance</a:t>
            </a:r>
          </a:p>
        </p:txBody>
      </p:sp>
      <p:sp>
        <p:nvSpPr>
          <p:cNvPr id="41" name="TextBox 40"/>
          <p:cNvSpPr txBox="1"/>
          <p:nvPr/>
        </p:nvSpPr>
        <p:spPr>
          <a:xfrm>
            <a:off x="640080" y="5989320"/>
            <a:ext cx="10972800" cy="320040"/>
          </a:xfrm>
          <a:prstGeom prst="rect">
            <a:avLst/>
          </a:prstGeom>
          <a:noFill/>
        </p:spPr>
        <p:txBody>
          <a:bodyPr wrap="square" anchor="t">
            <a:spAutoFit/>
          </a:bodyPr>
          <a:lstStyle/>
          <a:p>
            <a:pPr algn="l">
              <a:defRPr sz="1250" b="1">
                <a:solidFill>
                  <a:srgbClr val="184669"/>
                </a:solidFill>
                <a:latin typeface="Aptos"/>
              </a:defRPr>
            </a:pPr>
            <a:r>
              <a:t>Priority principle: protect proven strengths, diagnose material gaps, and avoid acting on untested causal assumptions.</a:t>
            </a:r>
          </a:p>
        </p:txBody>
      </p:sp>
      <p:sp>
        <p:nvSpPr>
          <p:cNvPr id="42" name="Rectangle 41"/>
          <p:cNvSpPr/>
          <p:nvPr/>
        </p:nvSpPr>
        <p:spPr>
          <a:xfrm>
            <a:off x="502920" y="6547104"/>
            <a:ext cx="11155680" cy="13716"/>
          </a:xfrm>
          <a:prstGeom prst="rect">
            <a:avLst/>
          </a:prstGeom>
          <a:solidFill>
            <a:srgbClr val="DA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6565392"/>
            <a:ext cx="731520" cy="182880"/>
          </a:xfrm>
          <a:prstGeom prst="rect">
            <a:avLst/>
          </a:prstGeom>
          <a:noFill/>
        </p:spPr>
        <p:txBody>
          <a:bodyPr wrap="none">
            <a:spAutoFit/>
          </a:bodyPr>
          <a:lstStyle/>
          <a:p>
            <a:pPr algn="r">
              <a:defRPr sz="900">
                <a:solidFill>
                  <a:srgbClr val="5C646C"/>
                </a:solidFill>
                <a:latin typeface="Aptos"/>
              </a:defRPr>
            </a:pPr>
            <a:r>
              <a:t>11</a:t>
            </a:r>
          </a:p>
        </p:txBody>
      </p:sp>
    </p:spTree>
  </p:cSld>
  <p:clrMapOvr>
    <a:masterClrMapping/>
  </p:clrMapOvr>
  <mc:AlternateContent xmlns:mc="http://schemas.openxmlformats.org/markup-compatibility/2006" xmlns:p14="http://schemas.microsoft.com/office/powerpoint/2010/main">
    <mc:Choice Requires="p14">
      <p:transition spd="slow" p14:dur="2000" advTm="92646"/>
    </mc:Choice>
    <mc:Fallback xmlns="">
      <p:transition spd="slow" advTm="9264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4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502920"/>
          </a:xfrm>
          <a:prstGeom prst="rect">
            <a:avLst/>
          </a:prstGeom>
          <a:noFill/>
        </p:spPr>
        <p:txBody>
          <a:bodyPr wrap="none">
            <a:spAutoFit/>
          </a:bodyPr>
          <a:lstStyle/>
          <a:p>
            <a:pPr>
              <a:defRPr sz="2600" b="1">
                <a:solidFill>
                  <a:srgbClr val="FFFFFF"/>
                </a:solidFill>
                <a:latin typeface="Aptos Display"/>
              </a:defRPr>
            </a:pPr>
            <a:r>
              <a:t>Expected Business Impact &amp; Decision-Support Framework</a:t>
            </a:r>
          </a:p>
        </p:txBody>
      </p:sp>
      <p:sp>
        <p:nvSpPr>
          <p:cNvPr id="4" name="TextBox 3"/>
          <p:cNvSpPr txBox="1"/>
          <p:nvPr/>
        </p:nvSpPr>
        <p:spPr>
          <a:xfrm>
            <a:off x="530352" y="786384"/>
            <a:ext cx="10972800" cy="310896"/>
          </a:xfrm>
          <a:prstGeom prst="rect">
            <a:avLst/>
          </a:prstGeom>
          <a:noFill/>
        </p:spPr>
        <p:txBody>
          <a:bodyPr wrap="none">
            <a:spAutoFit/>
          </a:bodyPr>
          <a:lstStyle/>
          <a:p>
            <a:pPr>
              <a:defRPr sz="1150">
                <a:solidFill>
                  <a:srgbClr val="DCEBF5"/>
                </a:solidFill>
                <a:latin typeface="Aptos"/>
              </a:defRPr>
            </a:pPr>
            <a:r>
              <a:t>Position the dashboard as a continuous-improvement management system.</a:t>
            </a:r>
          </a:p>
        </p:txBody>
      </p:sp>
      <p:sp>
        <p:nvSpPr>
          <p:cNvPr id="5" name="Rounded Rectangle 4"/>
          <p:cNvSpPr/>
          <p:nvPr/>
        </p:nvSpPr>
        <p:spPr>
          <a:xfrm>
            <a:off x="594360" y="1417320"/>
            <a:ext cx="1993392" cy="1508760"/>
          </a:xfrm>
          <a:prstGeom prst="roundRect">
            <a:avLst/>
          </a:prstGeom>
          <a:solidFill>
            <a:srgbClr val="225276"/>
          </a:solidFill>
          <a:ln>
            <a:solidFill>
              <a:srgbClr val="467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600200"/>
            <a:ext cx="1773936" cy="274320"/>
          </a:xfrm>
          <a:prstGeom prst="rect">
            <a:avLst/>
          </a:prstGeom>
          <a:noFill/>
        </p:spPr>
        <p:txBody>
          <a:bodyPr wrap="square" anchor="t">
            <a:spAutoFit/>
          </a:bodyPr>
          <a:lstStyle/>
          <a:p>
            <a:pPr algn="ctr">
              <a:defRPr sz="1100" b="1">
                <a:solidFill>
                  <a:srgbClr val="41B6E6"/>
                </a:solidFill>
                <a:latin typeface="Aptos"/>
              </a:defRPr>
            </a:pPr>
            <a:r>
              <a:t>Profitability</a:t>
            </a:r>
          </a:p>
        </p:txBody>
      </p:sp>
      <p:sp>
        <p:nvSpPr>
          <p:cNvPr id="7" name="TextBox 6"/>
          <p:cNvSpPr txBox="1"/>
          <p:nvPr/>
        </p:nvSpPr>
        <p:spPr>
          <a:xfrm>
            <a:off x="704088" y="1965960"/>
            <a:ext cx="1773936" cy="685800"/>
          </a:xfrm>
          <a:prstGeom prst="rect">
            <a:avLst/>
          </a:prstGeom>
          <a:noFill/>
        </p:spPr>
        <p:txBody>
          <a:bodyPr wrap="square" anchor="t">
            <a:spAutoFit/>
          </a:bodyPr>
          <a:lstStyle/>
          <a:p>
            <a:pPr algn="ctr">
              <a:defRPr sz="1019" b="0">
                <a:solidFill>
                  <a:srgbClr val="FFFFFF"/>
                </a:solidFill>
                <a:latin typeface="Aptos"/>
              </a:defRPr>
            </a:pPr>
            <a:r>
              <a:t>Identify margin leakage and improve quality of revenue.</a:t>
            </a:r>
          </a:p>
        </p:txBody>
      </p:sp>
      <p:sp>
        <p:nvSpPr>
          <p:cNvPr id="8" name="Rounded Rectangle 7"/>
          <p:cNvSpPr/>
          <p:nvPr/>
        </p:nvSpPr>
        <p:spPr>
          <a:xfrm>
            <a:off x="2862072" y="1417320"/>
            <a:ext cx="1993392" cy="1508760"/>
          </a:xfrm>
          <a:prstGeom prst="roundRect">
            <a:avLst/>
          </a:prstGeom>
          <a:solidFill>
            <a:srgbClr val="225276"/>
          </a:solidFill>
          <a:ln>
            <a:solidFill>
              <a:srgbClr val="467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71800" y="1600200"/>
            <a:ext cx="1773936" cy="274320"/>
          </a:xfrm>
          <a:prstGeom prst="rect">
            <a:avLst/>
          </a:prstGeom>
          <a:noFill/>
        </p:spPr>
        <p:txBody>
          <a:bodyPr wrap="square" anchor="t">
            <a:spAutoFit/>
          </a:bodyPr>
          <a:lstStyle/>
          <a:p>
            <a:pPr algn="ctr">
              <a:defRPr sz="1100" b="1">
                <a:solidFill>
                  <a:srgbClr val="41B6E6"/>
                </a:solidFill>
                <a:latin typeface="Aptos"/>
              </a:defRPr>
            </a:pPr>
            <a:r>
              <a:t>Resource Allocation</a:t>
            </a:r>
          </a:p>
        </p:txBody>
      </p:sp>
      <p:sp>
        <p:nvSpPr>
          <p:cNvPr id="10" name="TextBox 9"/>
          <p:cNvSpPr txBox="1"/>
          <p:nvPr/>
        </p:nvSpPr>
        <p:spPr>
          <a:xfrm>
            <a:off x="2971800" y="1965960"/>
            <a:ext cx="1773936" cy="685800"/>
          </a:xfrm>
          <a:prstGeom prst="rect">
            <a:avLst/>
          </a:prstGeom>
          <a:noFill/>
        </p:spPr>
        <p:txBody>
          <a:bodyPr wrap="square" anchor="t">
            <a:spAutoFit/>
          </a:bodyPr>
          <a:lstStyle/>
          <a:p>
            <a:pPr algn="ctr">
              <a:defRPr sz="1019" b="0">
                <a:solidFill>
                  <a:srgbClr val="FFFFFF"/>
                </a:solidFill>
                <a:latin typeface="Aptos"/>
              </a:defRPr>
            </a:pPr>
            <a:r>
              <a:t>Focus attention on profitable products, accounts and regions.</a:t>
            </a:r>
          </a:p>
        </p:txBody>
      </p:sp>
      <p:sp>
        <p:nvSpPr>
          <p:cNvPr id="11" name="Rounded Rectangle 10"/>
          <p:cNvSpPr/>
          <p:nvPr/>
        </p:nvSpPr>
        <p:spPr>
          <a:xfrm>
            <a:off x="5129784" y="1417320"/>
            <a:ext cx="1993392" cy="1508760"/>
          </a:xfrm>
          <a:prstGeom prst="roundRect">
            <a:avLst/>
          </a:prstGeom>
          <a:solidFill>
            <a:srgbClr val="225276"/>
          </a:solidFill>
          <a:ln>
            <a:solidFill>
              <a:srgbClr val="467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39512" y="1600200"/>
            <a:ext cx="1773936" cy="274320"/>
          </a:xfrm>
          <a:prstGeom prst="rect">
            <a:avLst/>
          </a:prstGeom>
          <a:noFill/>
        </p:spPr>
        <p:txBody>
          <a:bodyPr wrap="square" anchor="t">
            <a:spAutoFit/>
          </a:bodyPr>
          <a:lstStyle/>
          <a:p>
            <a:pPr algn="ctr">
              <a:defRPr sz="1100" b="1">
                <a:solidFill>
                  <a:srgbClr val="41B6E6"/>
                </a:solidFill>
                <a:latin typeface="Aptos"/>
              </a:defRPr>
            </a:pPr>
            <a:r>
              <a:t>Forecasting</a:t>
            </a:r>
          </a:p>
        </p:txBody>
      </p:sp>
      <p:sp>
        <p:nvSpPr>
          <p:cNvPr id="13" name="TextBox 12"/>
          <p:cNvSpPr txBox="1"/>
          <p:nvPr/>
        </p:nvSpPr>
        <p:spPr>
          <a:xfrm>
            <a:off x="5239512" y="1965960"/>
            <a:ext cx="1773936" cy="685800"/>
          </a:xfrm>
          <a:prstGeom prst="rect">
            <a:avLst/>
          </a:prstGeom>
          <a:noFill/>
        </p:spPr>
        <p:txBody>
          <a:bodyPr wrap="square" anchor="t">
            <a:spAutoFit/>
          </a:bodyPr>
          <a:lstStyle/>
          <a:p>
            <a:pPr algn="ctr">
              <a:defRPr sz="1019" b="0">
                <a:solidFill>
                  <a:srgbClr val="FFFFFF"/>
                </a:solidFill>
                <a:latin typeface="Aptos"/>
              </a:defRPr>
            </a:pPr>
            <a:r>
              <a:t>Reduce the risk of treating uncertain forecasts as commitments.</a:t>
            </a:r>
          </a:p>
        </p:txBody>
      </p:sp>
      <p:sp>
        <p:nvSpPr>
          <p:cNvPr id="14" name="Rounded Rectangle 13"/>
          <p:cNvSpPr/>
          <p:nvPr/>
        </p:nvSpPr>
        <p:spPr>
          <a:xfrm>
            <a:off x="7397496" y="1417320"/>
            <a:ext cx="1993392" cy="1508760"/>
          </a:xfrm>
          <a:prstGeom prst="roundRect">
            <a:avLst/>
          </a:prstGeom>
          <a:solidFill>
            <a:srgbClr val="225276"/>
          </a:solidFill>
          <a:ln>
            <a:solidFill>
              <a:srgbClr val="467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07223" y="1600200"/>
            <a:ext cx="1773936" cy="274320"/>
          </a:xfrm>
          <a:prstGeom prst="rect">
            <a:avLst/>
          </a:prstGeom>
          <a:noFill/>
        </p:spPr>
        <p:txBody>
          <a:bodyPr wrap="square" anchor="t">
            <a:spAutoFit/>
          </a:bodyPr>
          <a:lstStyle/>
          <a:p>
            <a:pPr algn="ctr">
              <a:defRPr sz="1100" b="1">
                <a:solidFill>
                  <a:srgbClr val="41B6E6"/>
                </a:solidFill>
                <a:latin typeface="Aptos"/>
              </a:defRPr>
            </a:pPr>
            <a:r>
              <a:t>Operations</a:t>
            </a:r>
          </a:p>
        </p:txBody>
      </p:sp>
      <p:sp>
        <p:nvSpPr>
          <p:cNvPr id="16" name="TextBox 15"/>
          <p:cNvSpPr txBox="1"/>
          <p:nvPr/>
        </p:nvSpPr>
        <p:spPr>
          <a:xfrm>
            <a:off x="7507223" y="1965960"/>
            <a:ext cx="1773936" cy="685800"/>
          </a:xfrm>
          <a:prstGeom prst="rect">
            <a:avLst/>
          </a:prstGeom>
          <a:noFill/>
        </p:spPr>
        <p:txBody>
          <a:bodyPr wrap="square" anchor="t">
            <a:spAutoFit/>
          </a:bodyPr>
          <a:lstStyle/>
          <a:p>
            <a:pPr algn="ctr">
              <a:defRPr sz="1019" b="0">
                <a:solidFill>
                  <a:srgbClr val="FFFFFF"/>
                </a:solidFill>
                <a:latin typeface="Aptos"/>
              </a:defRPr>
            </a:pPr>
            <a:r>
              <a:t>Surface shipping/performance exceptions for targeted diagnosis.</a:t>
            </a:r>
          </a:p>
        </p:txBody>
      </p:sp>
      <p:sp>
        <p:nvSpPr>
          <p:cNvPr id="17" name="Rounded Rectangle 16"/>
          <p:cNvSpPr/>
          <p:nvPr/>
        </p:nvSpPr>
        <p:spPr>
          <a:xfrm>
            <a:off x="9665208" y="1417320"/>
            <a:ext cx="1993392" cy="1508760"/>
          </a:xfrm>
          <a:prstGeom prst="roundRect">
            <a:avLst/>
          </a:prstGeom>
          <a:solidFill>
            <a:srgbClr val="225276"/>
          </a:solidFill>
          <a:ln>
            <a:solidFill>
              <a:srgbClr val="467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74936" y="1600200"/>
            <a:ext cx="1773936" cy="274320"/>
          </a:xfrm>
          <a:prstGeom prst="rect">
            <a:avLst/>
          </a:prstGeom>
          <a:noFill/>
        </p:spPr>
        <p:txBody>
          <a:bodyPr wrap="square" anchor="t">
            <a:spAutoFit/>
          </a:bodyPr>
          <a:lstStyle/>
          <a:p>
            <a:pPr algn="ctr">
              <a:defRPr sz="1100" b="1">
                <a:solidFill>
                  <a:srgbClr val="41B6E6"/>
                </a:solidFill>
                <a:latin typeface="Aptos"/>
              </a:defRPr>
            </a:pPr>
            <a:r>
              <a:t>Management</a:t>
            </a:r>
          </a:p>
        </p:txBody>
      </p:sp>
      <p:sp>
        <p:nvSpPr>
          <p:cNvPr id="19" name="TextBox 18"/>
          <p:cNvSpPr txBox="1"/>
          <p:nvPr/>
        </p:nvSpPr>
        <p:spPr>
          <a:xfrm>
            <a:off x="9774936" y="1965960"/>
            <a:ext cx="1773936" cy="685800"/>
          </a:xfrm>
          <a:prstGeom prst="rect">
            <a:avLst/>
          </a:prstGeom>
          <a:noFill/>
        </p:spPr>
        <p:txBody>
          <a:bodyPr wrap="square" anchor="t">
            <a:spAutoFit/>
          </a:bodyPr>
          <a:lstStyle/>
          <a:p>
            <a:pPr algn="ctr">
              <a:defRPr sz="1019" b="0">
                <a:solidFill>
                  <a:srgbClr val="FFFFFF"/>
                </a:solidFill>
                <a:latin typeface="Aptos"/>
              </a:defRPr>
            </a:pPr>
            <a:r>
              <a:t>Create one repeatable evidence-to-action decision process.</a:t>
            </a:r>
          </a:p>
        </p:txBody>
      </p:sp>
      <p:sp>
        <p:nvSpPr>
          <p:cNvPr id="20" name="Oval 19"/>
          <p:cNvSpPr/>
          <p:nvPr/>
        </p:nvSpPr>
        <p:spPr>
          <a:xfrm>
            <a:off x="594360" y="3703320"/>
            <a:ext cx="1115568" cy="1115568"/>
          </a:xfrm>
          <a:prstGeom prst="ellipse">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4041648"/>
            <a:ext cx="1115568" cy="292608"/>
          </a:xfrm>
          <a:prstGeom prst="rect">
            <a:avLst/>
          </a:prstGeom>
          <a:noFill/>
        </p:spPr>
        <p:txBody>
          <a:bodyPr wrap="square" anchor="ctr">
            <a:spAutoFit/>
          </a:bodyPr>
          <a:lstStyle/>
          <a:p>
            <a:pPr algn="ctr">
              <a:defRPr sz="950" b="1">
                <a:solidFill>
                  <a:srgbClr val="FFFFFF"/>
                </a:solidFill>
                <a:latin typeface="Aptos"/>
              </a:defRPr>
            </a:pPr>
            <a:r>
              <a:t>MEASURE</a:t>
            </a:r>
          </a:p>
        </p:txBody>
      </p:sp>
      <p:sp>
        <p:nvSpPr>
          <p:cNvPr id="22" name="TextBox 21"/>
          <p:cNvSpPr txBox="1"/>
          <p:nvPr/>
        </p:nvSpPr>
        <p:spPr>
          <a:xfrm>
            <a:off x="1755648" y="4041648"/>
            <a:ext cx="411480" cy="274320"/>
          </a:xfrm>
          <a:prstGeom prst="rect">
            <a:avLst/>
          </a:prstGeom>
          <a:noFill/>
        </p:spPr>
        <p:txBody>
          <a:bodyPr wrap="square" anchor="t">
            <a:spAutoFit/>
          </a:bodyPr>
          <a:lstStyle/>
          <a:p>
            <a:pPr algn="ctr">
              <a:defRPr sz="1800" b="1">
                <a:solidFill>
                  <a:srgbClr val="BEDCEB"/>
                </a:solidFill>
                <a:latin typeface="Aptos"/>
              </a:defRPr>
            </a:pPr>
            <a:r>
              <a:t>→</a:t>
            </a:r>
          </a:p>
        </p:txBody>
      </p:sp>
      <p:sp>
        <p:nvSpPr>
          <p:cNvPr id="23" name="Oval 22"/>
          <p:cNvSpPr/>
          <p:nvPr/>
        </p:nvSpPr>
        <p:spPr>
          <a:xfrm>
            <a:off x="2221992" y="3703320"/>
            <a:ext cx="1115568" cy="1115568"/>
          </a:xfrm>
          <a:prstGeom prst="ellipse">
            <a:avLst/>
          </a:prstGeom>
          <a:solidFill>
            <a:srgbClr val="306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21992" y="4041648"/>
            <a:ext cx="1115568" cy="292608"/>
          </a:xfrm>
          <a:prstGeom prst="rect">
            <a:avLst/>
          </a:prstGeom>
          <a:noFill/>
        </p:spPr>
        <p:txBody>
          <a:bodyPr wrap="square" anchor="ctr">
            <a:spAutoFit/>
          </a:bodyPr>
          <a:lstStyle/>
          <a:p>
            <a:pPr algn="ctr">
              <a:defRPr sz="950" b="1">
                <a:solidFill>
                  <a:srgbClr val="FFFFFF"/>
                </a:solidFill>
                <a:latin typeface="Aptos"/>
              </a:defRPr>
            </a:pPr>
            <a:r>
              <a:t>DIAGNOSE</a:t>
            </a:r>
          </a:p>
        </p:txBody>
      </p:sp>
      <p:sp>
        <p:nvSpPr>
          <p:cNvPr id="25" name="TextBox 24"/>
          <p:cNvSpPr txBox="1"/>
          <p:nvPr/>
        </p:nvSpPr>
        <p:spPr>
          <a:xfrm>
            <a:off x="3383280" y="4041648"/>
            <a:ext cx="411480" cy="274320"/>
          </a:xfrm>
          <a:prstGeom prst="rect">
            <a:avLst/>
          </a:prstGeom>
          <a:noFill/>
        </p:spPr>
        <p:txBody>
          <a:bodyPr wrap="square" anchor="t">
            <a:spAutoFit/>
          </a:bodyPr>
          <a:lstStyle/>
          <a:p>
            <a:pPr algn="ctr">
              <a:defRPr sz="1800" b="1">
                <a:solidFill>
                  <a:srgbClr val="BEDCEB"/>
                </a:solidFill>
                <a:latin typeface="Aptos"/>
              </a:defRPr>
            </a:pPr>
            <a:r>
              <a:t>→</a:t>
            </a:r>
          </a:p>
        </p:txBody>
      </p:sp>
      <p:sp>
        <p:nvSpPr>
          <p:cNvPr id="26" name="Oval 25"/>
          <p:cNvSpPr/>
          <p:nvPr/>
        </p:nvSpPr>
        <p:spPr>
          <a:xfrm>
            <a:off x="3849624" y="3703320"/>
            <a:ext cx="1115568" cy="1115568"/>
          </a:xfrm>
          <a:prstGeom prst="ellipse">
            <a:avLst/>
          </a:prstGeom>
          <a:solidFill>
            <a:srgbClr val="306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9624" y="4041648"/>
            <a:ext cx="1115568" cy="292608"/>
          </a:xfrm>
          <a:prstGeom prst="rect">
            <a:avLst/>
          </a:prstGeom>
          <a:noFill/>
        </p:spPr>
        <p:txBody>
          <a:bodyPr wrap="square" anchor="ctr">
            <a:spAutoFit/>
          </a:bodyPr>
          <a:lstStyle/>
          <a:p>
            <a:pPr algn="ctr">
              <a:defRPr sz="950" b="1">
                <a:solidFill>
                  <a:srgbClr val="FFFFFF"/>
                </a:solidFill>
                <a:latin typeface="Aptos"/>
              </a:defRPr>
            </a:pPr>
            <a:r>
              <a:t>PRIORITIZE</a:t>
            </a:r>
          </a:p>
        </p:txBody>
      </p:sp>
      <p:sp>
        <p:nvSpPr>
          <p:cNvPr id="28" name="TextBox 27"/>
          <p:cNvSpPr txBox="1"/>
          <p:nvPr/>
        </p:nvSpPr>
        <p:spPr>
          <a:xfrm>
            <a:off x="5010912" y="4041648"/>
            <a:ext cx="411480" cy="274320"/>
          </a:xfrm>
          <a:prstGeom prst="rect">
            <a:avLst/>
          </a:prstGeom>
          <a:noFill/>
        </p:spPr>
        <p:txBody>
          <a:bodyPr wrap="square" anchor="t">
            <a:spAutoFit/>
          </a:bodyPr>
          <a:lstStyle/>
          <a:p>
            <a:pPr algn="ctr">
              <a:defRPr sz="1800" b="1">
                <a:solidFill>
                  <a:srgbClr val="BEDCEB"/>
                </a:solidFill>
                <a:latin typeface="Aptos"/>
              </a:defRPr>
            </a:pPr>
            <a:r>
              <a:t>→</a:t>
            </a:r>
          </a:p>
        </p:txBody>
      </p:sp>
      <p:sp>
        <p:nvSpPr>
          <p:cNvPr id="29" name="Oval 28"/>
          <p:cNvSpPr/>
          <p:nvPr/>
        </p:nvSpPr>
        <p:spPr>
          <a:xfrm>
            <a:off x="5477256" y="3703320"/>
            <a:ext cx="1115568" cy="1115568"/>
          </a:xfrm>
          <a:prstGeom prst="ellipse">
            <a:avLst/>
          </a:prstGeom>
          <a:solidFill>
            <a:srgbClr val="306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77256" y="4041648"/>
            <a:ext cx="1115568" cy="292608"/>
          </a:xfrm>
          <a:prstGeom prst="rect">
            <a:avLst/>
          </a:prstGeom>
          <a:noFill/>
        </p:spPr>
        <p:txBody>
          <a:bodyPr wrap="square" anchor="ctr">
            <a:spAutoFit/>
          </a:bodyPr>
          <a:lstStyle/>
          <a:p>
            <a:pPr algn="ctr">
              <a:defRPr sz="950" b="1">
                <a:solidFill>
                  <a:srgbClr val="FFFFFF"/>
                </a:solidFill>
                <a:latin typeface="Aptos"/>
              </a:defRPr>
            </a:pPr>
            <a:r>
              <a:t>ACT</a:t>
            </a:r>
          </a:p>
        </p:txBody>
      </p:sp>
      <p:sp>
        <p:nvSpPr>
          <p:cNvPr id="31" name="TextBox 30"/>
          <p:cNvSpPr txBox="1"/>
          <p:nvPr/>
        </p:nvSpPr>
        <p:spPr>
          <a:xfrm>
            <a:off x="6638544" y="4041648"/>
            <a:ext cx="411480" cy="274320"/>
          </a:xfrm>
          <a:prstGeom prst="rect">
            <a:avLst/>
          </a:prstGeom>
          <a:noFill/>
        </p:spPr>
        <p:txBody>
          <a:bodyPr wrap="square" anchor="t">
            <a:spAutoFit/>
          </a:bodyPr>
          <a:lstStyle/>
          <a:p>
            <a:pPr algn="ctr">
              <a:defRPr sz="1800" b="1">
                <a:solidFill>
                  <a:srgbClr val="BEDCEB"/>
                </a:solidFill>
                <a:latin typeface="Aptos"/>
              </a:defRPr>
            </a:pPr>
            <a:r>
              <a:t>→</a:t>
            </a:r>
          </a:p>
        </p:txBody>
      </p:sp>
      <p:sp>
        <p:nvSpPr>
          <p:cNvPr id="32" name="Oval 31"/>
          <p:cNvSpPr/>
          <p:nvPr/>
        </p:nvSpPr>
        <p:spPr>
          <a:xfrm>
            <a:off x="7104888" y="3703320"/>
            <a:ext cx="1115568" cy="1115568"/>
          </a:xfrm>
          <a:prstGeom prst="ellipse">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04888" y="4041648"/>
            <a:ext cx="1115568" cy="292608"/>
          </a:xfrm>
          <a:prstGeom prst="rect">
            <a:avLst/>
          </a:prstGeom>
          <a:noFill/>
        </p:spPr>
        <p:txBody>
          <a:bodyPr wrap="square" anchor="ctr">
            <a:spAutoFit/>
          </a:bodyPr>
          <a:lstStyle/>
          <a:p>
            <a:pPr algn="ctr">
              <a:defRPr sz="950" b="1">
                <a:solidFill>
                  <a:srgbClr val="FFFFFF"/>
                </a:solidFill>
                <a:latin typeface="Aptos"/>
              </a:defRPr>
            </a:pPr>
            <a:r>
              <a:t>MONITOR</a:t>
            </a:r>
          </a:p>
        </p:txBody>
      </p:sp>
      <p:sp>
        <p:nvSpPr>
          <p:cNvPr id="34" name="TextBox 33"/>
          <p:cNvSpPr txBox="1"/>
          <p:nvPr/>
        </p:nvSpPr>
        <p:spPr>
          <a:xfrm>
            <a:off x="8266176" y="4041648"/>
            <a:ext cx="411480" cy="274320"/>
          </a:xfrm>
          <a:prstGeom prst="rect">
            <a:avLst/>
          </a:prstGeom>
          <a:noFill/>
        </p:spPr>
        <p:txBody>
          <a:bodyPr wrap="square" anchor="t">
            <a:spAutoFit/>
          </a:bodyPr>
          <a:lstStyle/>
          <a:p>
            <a:pPr algn="ctr">
              <a:defRPr sz="1800" b="1">
                <a:solidFill>
                  <a:srgbClr val="BEDCEB"/>
                </a:solidFill>
                <a:latin typeface="Aptos"/>
              </a:defRPr>
            </a:pPr>
            <a:r>
              <a:t>→</a:t>
            </a:r>
          </a:p>
        </p:txBody>
      </p:sp>
      <p:sp>
        <p:nvSpPr>
          <p:cNvPr id="35" name="Oval 34"/>
          <p:cNvSpPr/>
          <p:nvPr/>
        </p:nvSpPr>
        <p:spPr>
          <a:xfrm>
            <a:off x="8732520" y="3703320"/>
            <a:ext cx="1115568" cy="1115568"/>
          </a:xfrm>
          <a:prstGeom prst="ellipse">
            <a:avLst/>
          </a:prstGeom>
          <a:solidFill>
            <a:srgbClr val="41B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732520" y="4041648"/>
            <a:ext cx="1115568" cy="292608"/>
          </a:xfrm>
          <a:prstGeom prst="rect">
            <a:avLst/>
          </a:prstGeom>
          <a:noFill/>
        </p:spPr>
        <p:txBody>
          <a:bodyPr wrap="square" anchor="ctr">
            <a:spAutoFit/>
          </a:bodyPr>
          <a:lstStyle/>
          <a:p>
            <a:pPr algn="ctr">
              <a:defRPr sz="950" b="1">
                <a:solidFill>
                  <a:srgbClr val="FFFFFF"/>
                </a:solidFill>
                <a:latin typeface="Aptos"/>
              </a:defRPr>
            </a:pPr>
            <a:r>
              <a:t>VALIDATE</a:t>
            </a:r>
          </a:p>
        </p:txBody>
      </p:sp>
      <p:sp>
        <p:nvSpPr>
          <p:cNvPr id="37" name="TextBox 36"/>
          <p:cNvSpPr txBox="1"/>
          <p:nvPr/>
        </p:nvSpPr>
        <p:spPr>
          <a:xfrm>
            <a:off x="9893808" y="4041648"/>
            <a:ext cx="411480" cy="274320"/>
          </a:xfrm>
          <a:prstGeom prst="rect">
            <a:avLst/>
          </a:prstGeom>
          <a:noFill/>
        </p:spPr>
        <p:txBody>
          <a:bodyPr wrap="square" anchor="t">
            <a:spAutoFit/>
          </a:bodyPr>
          <a:lstStyle/>
          <a:p>
            <a:pPr algn="ctr">
              <a:defRPr sz="1800" b="1">
                <a:solidFill>
                  <a:srgbClr val="BEDCEB"/>
                </a:solidFill>
                <a:latin typeface="Aptos"/>
              </a:defRPr>
            </a:pPr>
            <a:r>
              <a:t>→</a:t>
            </a:r>
          </a:p>
        </p:txBody>
      </p:sp>
      <p:sp>
        <p:nvSpPr>
          <p:cNvPr id="38" name="Oval 37"/>
          <p:cNvSpPr/>
          <p:nvPr/>
        </p:nvSpPr>
        <p:spPr>
          <a:xfrm>
            <a:off x="10360152" y="3703320"/>
            <a:ext cx="1115568" cy="1115568"/>
          </a:xfrm>
          <a:prstGeom prst="ellipse">
            <a:avLst/>
          </a:prstGeom>
          <a:solidFill>
            <a:srgbClr val="306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360152" y="4041648"/>
            <a:ext cx="1115568" cy="292608"/>
          </a:xfrm>
          <a:prstGeom prst="rect">
            <a:avLst/>
          </a:prstGeom>
          <a:noFill/>
        </p:spPr>
        <p:txBody>
          <a:bodyPr wrap="square" anchor="ctr">
            <a:spAutoFit/>
          </a:bodyPr>
          <a:lstStyle/>
          <a:p>
            <a:pPr algn="ctr">
              <a:defRPr sz="950" b="1">
                <a:solidFill>
                  <a:srgbClr val="FFFFFF"/>
                </a:solidFill>
                <a:latin typeface="Aptos"/>
              </a:defRPr>
            </a:pPr>
            <a:r>
              <a:t>ADJUST</a:t>
            </a:r>
          </a:p>
        </p:txBody>
      </p:sp>
      <p:sp>
        <p:nvSpPr>
          <p:cNvPr id="40" name="TextBox 39"/>
          <p:cNvSpPr txBox="1"/>
          <p:nvPr/>
        </p:nvSpPr>
        <p:spPr>
          <a:xfrm>
            <a:off x="685800" y="5349240"/>
            <a:ext cx="10835640" cy="640080"/>
          </a:xfrm>
          <a:prstGeom prst="rect">
            <a:avLst/>
          </a:prstGeom>
          <a:noFill/>
        </p:spPr>
        <p:txBody>
          <a:bodyPr wrap="square" anchor="t">
            <a:spAutoFit/>
          </a:bodyPr>
          <a:lstStyle/>
          <a:p>
            <a:pPr algn="ctr">
              <a:defRPr sz="1500" b="1">
                <a:solidFill>
                  <a:srgbClr val="FFFFFF"/>
                </a:solidFill>
                <a:latin typeface="Aptos"/>
              </a:defRPr>
            </a:pPr>
            <a:r>
              <a:t>Final message: connect historical performance, diagnostic analysis, forecast validation and corrective action into one continuous management decision-support loop.</a:t>
            </a:r>
          </a:p>
        </p:txBody>
      </p:sp>
      <p:sp>
        <p:nvSpPr>
          <p:cNvPr id="41" name="TextBox 40"/>
          <p:cNvSpPr txBox="1"/>
          <p:nvPr/>
        </p:nvSpPr>
        <p:spPr>
          <a:xfrm>
            <a:off x="685800" y="6172200"/>
            <a:ext cx="10835640" cy="274320"/>
          </a:xfrm>
          <a:prstGeom prst="rect">
            <a:avLst/>
          </a:prstGeom>
          <a:noFill/>
        </p:spPr>
        <p:txBody>
          <a:bodyPr wrap="square" anchor="t">
            <a:spAutoFit/>
          </a:bodyPr>
          <a:lstStyle/>
          <a:p>
            <a:pPr algn="ctr">
              <a:defRPr sz="950" b="0">
                <a:solidFill>
                  <a:srgbClr val="BED7E6"/>
                </a:solidFill>
                <a:latin typeface="Aptos"/>
              </a:defRPr>
            </a:pPr>
            <a:r>
              <a:t>Source: Project #1 Sales Performance &amp; Forecasting Analytics workbook and forecast validation outputs.</a:t>
            </a:r>
          </a:p>
        </p:txBody>
      </p:sp>
    </p:spTree>
  </p:cSld>
  <p:clrMapOvr>
    <a:masterClrMapping/>
  </p:clrMapOvr>
  <mc:AlternateContent xmlns:mc="http://schemas.openxmlformats.org/markup-compatibility/2006" xmlns:p14="http://schemas.microsoft.com/office/powerpoint/2010/main">
    <mc:Choice Requires="p14">
      <p:transition spd="slow" p14:dur="2000" advTm="100345"/>
    </mc:Choice>
    <mc:Fallback xmlns="">
      <p:transition spd="slow" advTm="10034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94360" y="658368"/>
            <a:ext cx="10972800" cy="54864"/>
          </a:xfrm>
          <a:prstGeom prst="rect">
            <a:avLst/>
          </a:prstGeom>
          <a:solidFill>
            <a:srgbClr val="25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298448"/>
            <a:ext cx="10789920" cy="566928"/>
          </a:xfrm>
          <a:prstGeom prst="rect">
            <a:avLst/>
          </a:prstGeom>
          <a:noFill/>
        </p:spPr>
        <p:txBody>
          <a:bodyPr wrap="square" anchor="t">
            <a:spAutoFit/>
          </a:bodyPr>
          <a:lstStyle/>
          <a:p>
            <a:pPr algn="ctr">
              <a:defRPr sz="3000" b="1">
                <a:solidFill>
                  <a:srgbClr val="184669"/>
                </a:solidFill>
                <a:latin typeface="Aptos"/>
              </a:defRPr>
            </a:pPr>
            <a:r>
              <a:t>Thank You</a:t>
            </a:r>
          </a:p>
        </p:txBody>
      </p:sp>
      <p:sp>
        <p:nvSpPr>
          <p:cNvPr id="5" name="TextBox 4"/>
          <p:cNvSpPr txBox="1"/>
          <p:nvPr/>
        </p:nvSpPr>
        <p:spPr>
          <a:xfrm>
            <a:off x="1325880" y="2011680"/>
            <a:ext cx="9509760" cy="411480"/>
          </a:xfrm>
          <a:prstGeom prst="rect">
            <a:avLst/>
          </a:prstGeom>
          <a:noFill/>
        </p:spPr>
        <p:txBody>
          <a:bodyPr wrap="square" anchor="t">
            <a:spAutoFit/>
          </a:bodyPr>
          <a:lstStyle/>
          <a:p>
            <a:pPr algn="ctr">
              <a:defRPr sz="1800" b="1">
                <a:solidFill>
                  <a:srgbClr val="2D343A"/>
                </a:solidFill>
                <a:latin typeface="Aptos"/>
              </a:defRPr>
            </a:pPr>
            <a:r>
              <a:t>Sales Performance &amp; Forecasting Analysis</a:t>
            </a:r>
          </a:p>
        </p:txBody>
      </p:sp>
      <p:sp>
        <p:nvSpPr>
          <p:cNvPr id="6" name="TextBox 5"/>
          <p:cNvSpPr txBox="1"/>
          <p:nvPr/>
        </p:nvSpPr>
        <p:spPr>
          <a:xfrm>
            <a:off x="1417320" y="2816352"/>
            <a:ext cx="9326880" cy="594360"/>
          </a:xfrm>
          <a:prstGeom prst="rect">
            <a:avLst/>
          </a:prstGeom>
          <a:noFill/>
        </p:spPr>
        <p:txBody>
          <a:bodyPr wrap="square" anchor="t">
            <a:spAutoFit/>
          </a:bodyPr>
          <a:lstStyle/>
          <a:p>
            <a:pPr algn="ctr">
              <a:defRPr sz="1500" b="0">
                <a:solidFill>
                  <a:srgbClr val="5C646C"/>
                </a:solidFill>
                <a:latin typeface="Aptos"/>
              </a:defRPr>
            </a:pPr>
            <a:r>
              <a:t>Turning historical performance, diagnostic analysis, and forecast validation into management decision support.</a:t>
            </a:r>
          </a:p>
        </p:txBody>
      </p:sp>
      <p:sp>
        <p:nvSpPr>
          <p:cNvPr id="7" name="Rounded Rectangle 6"/>
          <p:cNvSpPr/>
          <p:nvPr/>
        </p:nvSpPr>
        <p:spPr>
          <a:xfrm>
            <a:off x="1874519" y="3767328"/>
            <a:ext cx="8458200" cy="1051560"/>
          </a:xfrm>
          <a:prstGeom prst="roundRect">
            <a:avLst/>
          </a:prstGeom>
          <a:solidFill>
            <a:srgbClr val="F4F7F9"/>
          </a:solidFill>
          <a:ln>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40" y="4005072"/>
            <a:ext cx="7909560" cy="502920"/>
          </a:xfrm>
          <a:prstGeom prst="rect">
            <a:avLst/>
          </a:prstGeom>
          <a:noFill/>
        </p:spPr>
        <p:txBody>
          <a:bodyPr wrap="square" anchor="ctr">
            <a:spAutoFit/>
          </a:bodyPr>
          <a:lstStyle/>
          <a:p>
            <a:pPr algn="ctr">
              <a:defRPr sz="1500" b="1">
                <a:solidFill>
                  <a:srgbClr val="256699"/>
                </a:solidFill>
                <a:latin typeface="Aptos"/>
              </a:defRPr>
            </a:pPr>
            <a:r>
              <a:t>Measure  →  Diagnose  →  Forecast  →  Validate  →  Act  →  Monitor</a:t>
            </a:r>
          </a:p>
        </p:txBody>
      </p:sp>
      <p:sp>
        <p:nvSpPr>
          <p:cNvPr id="9" name="TextBox 8"/>
          <p:cNvSpPr txBox="1"/>
          <p:nvPr/>
        </p:nvSpPr>
        <p:spPr>
          <a:xfrm>
            <a:off x="1417320" y="5321808"/>
            <a:ext cx="9326880" cy="384048"/>
          </a:xfrm>
          <a:prstGeom prst="rect">
            <a:avLst/>
          </a:prstGeom>
          <a:noFill/>
        </p:spPr>
        <p:txBody>
          <a:bodyPr wrap="square" anchor="t">
            <a:spAutoFit/>
          </a:bodyPr>
          <a:lstStyle/>
          <a:p>
            <a:pPr algn="ctr">
              <a:defRPr sz="1700" b="1">
                <a:solidFill>
                  <a:srgbClr val="184669"/>
                </a:solidFill>
                <a:latin typeface="Aptos"/>
              </a:defRPr>
            </a:pPr>
            <a:r>
              <a:t>Questions &amp; Discussion</a:t>
            </a:r>
          </a:p>
        </p:txBody>
      </p:sp>
      <p:sp>
        <p:nvSpPr>
          <p:cNvPr id="10" name="TextBox 9"/>
          <p:cNvSpPr txBox="1"/>
          <p:nvPr/>
        </p:nvSpPr>
        <p:spPr>
          <a:xfrm>
            <a:off x="1417320" y="5779008"/>
            <a:ext cx="9326880" cy="274320"/>
          </a:xfrm>
          <a:prstGeom prst="rect">
            <a:avLst/>
          </a:prstGeom>
          <a:noFill/>
        </p:spPr>
        <p:txBody>
          <a:bodyPr wrap="square" anchor="t">
            <a:spAutoFit/>
          </a:bodyPr>
          <a:lstStyle/>
          <a:p>
            <a:pPr algn="ctr">
              <a:defRPr sz="1050" b="0">
                <a:solidFill>
                  <a:srgbClr val="5C646C"/>
                </a:solidFill>
                <a:latin typeface="Aptos"/>
              </a:defRPr>
            </a:pPr>
            <a:r>
              <a:t>Tina Vo  |  Data Analytics Portfolio</a:t>
            </a:r>
          </a:p>
        </p:txBody>
      </p:sp>
      <p:sp>
        <p:nvSpPr>
          <p:cNvPr id="11" name="Rectangle 10"/>
          <p:cNvSpPr/>
          <p:nvPr/>
        </p:nvSpPr>
        <p:spPr>
          <a:xfrm>
            <a:off x="566928" y="6492240"/>
            <a:ext cx="10972800" cy="10972"/>
          </a:xfrm>
          <a:prstGeom prst="rect">
            <a:avLst/>
          </a:prstGeom>
          <a:solidFill>
            <a:srgbClr val="D8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35640" y="6519672"/>
            <a:ext cx="594360" cy="182880"/>
          </a:xfrm>
          <a:prstGeom prst="rect">
            <a:avLst/>
          </a:prstGeom>
          <a:noFill/>
        </p:spPr>
        <p:txBody>
          <a:bodyPr wrap="square" anchor="t">
            <a:spAutoFit/>
          </a:bodyPr>
          <a:lstStyle/>
          <a:p>
            <a:pPr algn="r">
              <a:defRPr sz="850" b="0">
                <a:solidFill>
                  <a:srgbClr val="5C646C"/>
                </a:solidFill>
                <a:latin typeface="Aptos"/>
              </a:defRPr>
            </a:pPr>
            <a:r>
              <a:t>13</a:t>
            </a:r>
          </a:p>
        </p:txBody>
      </p:sp>
    </p:spTree>
  </p:cSld>
  <p:clrMapOvr>
    <a:masterClrMapping/>
  </p:clrMapOvr>
  <mc:AlternateContent xmlns:mc="http://schemas.openxmlformats.org/markup-compatibility/2006" xmlns:p14="http://schemas.microsoft.com/office/powerpoint/2010/main">
    <mc:Choice Requires="p14">
      <p:transition spd="slow" p14:dur="2000" advTm="37631"/>
    </mc:Choice>
    <mc:Fallback xmlns="">
      <p:transition spd="slow" advTm="3763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TotalTime>
  <Words>1318</Words>
  <Application>Microsoft Office PowerPoint</Application>
  <PresentationFormat>Widescreen</PresentationFormat>
  <Paragraphs>256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Jimmy Ly</dc:creator>
  <cp:keywords/>
  <dc:description>generated using python-pptx</dc:description>
  <cp:lastModifiedBy>Jimmy Ly</cp:lastModifiedBy>
  <cp:revision>14</cp:revision>
  <dcterms:created xsi:type="dcterms:W3CDTF">2013-01-27T09:14:16Z</dcterms:created>
  <dcterms:modified xsi:type="dcterms:W3CDTF">2026-09-26T08:14:45Z</dcterms:modified>
  <cp:category/>
</cp:coreProperties>
</file>